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043f2a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3043f2aaf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7190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Dark Pattern Recognition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397779" y="637800"/>
            <a:ext cx="4912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978"/>
                </a:solidFill>
                <a:latin typeface="Arial"/>
                <a:ea typeface="Arial"/>
                <a:cs typeface="Arial"/>
                <a:sym typeface="Arial"/>
              </a:rPr>
              <a:t>AI4ALL Ignite Team 20C | Supervised NLP for E-Commerce Text</a:t>
            </a:r>
            <a:endParaRPr sz="1100"/>
          </a:p>
        </p:txBody>
      </p:sp>
      <p:sp>
        <p:nvSpPr>
          <p:cNvPr id="56" name="Google Shape;56;p13"/>
          <p:cNvSpPr/>
          <p:nvPr/>
        </p:nvSpPr>
        <p:spPr>
          <a:xfrm>
            <a:off x="202607" y="952688"/>
            <a:ext cx="2145181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Can supervised text classifiers detect dark-pattern language, and what are the limits of text-first detection?</a:t>
            </a:r>
            <a:endParaRPr sz="1100"/>
          </a:p>
        </p:txBody>
      </p:sp>
      <p:sp>
        <p:nvSpPr>
          <p:cNvPr id="57" name="Google Shape;57;p13"/>
          <p:cNvSpPr/>
          <p:nvPr/>
        </p:nvSpPr>
        <p:spPr>
          <a:xfrm>
            <a:off x="2407052" y="952688"/>
            <a:ext cx="2145181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Primary baseline: 2,356 Krish Uppal snippets, balanced 50/50. Secondary sources: Devitachi + Akash Nath.</a:t>
            </a:r>
            <a:endParaRPr sz="1100"/>
          </a:p>
        </p:txBody>
      </p:sp>
      <p:sp>
        <p:nvSpPr>
          <p:cNvPr id="58" name="Google Shape;58;p13"/>
          <p:cNvSpPr/>
          <p:nvPr/>
        </p:nvSpPr>
        <p:spPr>
          <a:xfrm>
            <a:off x="4611939" y="952688"/>
            <a:ext cx="2145181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TF-IDF + Logistic Regression. Compared against Linear SVM, Naive Bayes, Decision Tree, and Random Forest.</a:t>
            </a:r>
            <a:endParaRPr sz="1100"/>
          </a:p>
        </p:txBody>
      </p:sp>
      <p:sp>
        <p:nvSpPr>
          <p:cNvPr id="59" name="Google Shape;59;p13"/>
          <p:cNvSpPr/>
          <p:nvPr/>
        </p:nvSpPr>
        <p:spPr>
          <a:xfrm>
            <a:off x="6812276" y="952688"/>
            <a:ext cx="2141888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Best primary model: 93.9% accuracy, 0.936 F1.</a:t>
            </a:r>
            <a:endParaRPr sz="1100"/>
          </a:p>
        </p:txBody>
      </p:sp>
      <p:pic>
        <p:nvPicPr>
          <p:cNvPr descr="model_comparison.png"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1918181"/>
            <a:ext cx="2847474" cy="1738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fusion_matrix.png" id="61" name="Google Shape;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7472" y="1918181"/>
            <a:ext cx="2514652" cy="1738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tegory_distribution.png" id="62" name="Google Shape;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300" y="1918181"/>
            <a:ext cx="2847474" cy="173806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202607" y="3971100"/>
            <a:ext cx="2814913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Streamlit app for manual text. Playwright scanner for visible webpage text. Demo safeguards reduce discount/product-title false positives.</a:t>
            </a:r>
            <a:endParaRPr sz="1100"/>
          </a:p>
        </p:txBody>
      </p:sp>
      <p:sp>
        <p:nvSpPr>
          <p:cNvPr id="64" name="Google Shape;64;p13"/>
          <p:cNvSpPr/>
          <p:nvPr/>
        </p:nvSpPr>
        <p:spPr>
          <a:xfrm>
            <a:off x="3153113" y="3960061"/>
            <a:ext cx="2814913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Responsible AI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False positives can unfairly flag businesses; false negatives can miss harm. The model is a review aid, not a final accusation.</a:t>
            </a:r>
            <a:endParaRPr sz="1100"/>
          </a:p>
        </p:txBody>
      </p:sp>
      <p:sp>
        <p:nvSpPr>
          <p:cNvPr id="65" name="Google Shape;65;p13"/>
          <p:cNvSpPr/>
          <p:nvPr/>
        </p:nvSpPr>
        <p:spPr>
          <a:xfrm>
            <a:off x="6103619" y="3960061"/>
            <a:ext cx="2850545" cy="672720"/>
          </a:xfrm>
          <a:prstGeom prst="rect">
            <a:avLst/>
          </a:prstGeom>
          <a:solidFill>
            <a:srgbClr val="F2F6FB"/>
          </a:solidFill>
          <a:ln cap="flat" cmpd="sng" w="9525">
            <a:solidFill>
              <a:srgbClr val="CD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82300" spcFirstLastPara="1" rIns="82300" wrap="square" tIns="54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2407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Hard-negative mining, TF-IDF tuning, threshold tuning, OCR, visual layout features, and UX-flow testing.</a:t>
            </a:r>
            <a:endParaRPr sz="1100"/>
          </a:p>
        </p:txBody>
      </p:sp>
      <p:sp>
        <p:nvSpPr>
          <p:cNvPr id="66" name="Google Shape;66;p13"/>
          <p:cNvSpPr txBox="1"/>
          <p:nvPr/>
        </p:nvSpPr>
        <p:spPr>
          <a:xfrm>
            <a:off x="308610" y="48006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F6978"/>
                </a:solidFill>
                <a:latin typeface="Arial"/>
                <a:ea typeface="Arial"/>
                <a:cs typeface="Arial"/>
                <a:sym typeface="Arial"/>
              </a:rPr>
              <a:t>GitHub: https://github.com/RadRebelSam/ai4all-20c-darkpatterns | Page: https://radrebelsam.github.io/ai4all-20c-darkpatterns/</a:t>
            </a:r>
            <a:endParaRPr sz="1100"/>
          </a:p>
        </p:txBody>
      </p:sp>
      <p:sp>
        <p:nvSpPr>
          <p:cNvPr id="67" name="TextBox 66"/>
          <p:cNvSpPr txBox="1"/>
          <p:nvPr/>
        </p:nvSpPr>
        <p:spPr>
          <a:xfrm>
            <a:off x="6172200" y="3794760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Two-Model Demo Flow</a:t>
            </a:r>
          </a:p>
        </p:txBody>
      </p:sp>
      <p:pic>
        <p:nvPicPr>
          <p:cNvPr id="68" name="Picture 67" descr="two_model_summary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096512"/>
            <a:ext cx="2423160" cy="12115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40680" y="41148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Updated: Two Trained Models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40680" y="749808"/>
            <a:ext cx="26060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E293B"/>
                </a:solidFill>
              </a:defRPr>
            </a:pPr>
            <a:r>
              <a:t>Model 1 detects Dark vs Not Dark (F1 0.936). Model 2 predicts likely type with Linear SVM (macro F1 0.894).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3794760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Two-Model Demo Flow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096512"/>
            <a:ext cx="2423160" cy="1211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