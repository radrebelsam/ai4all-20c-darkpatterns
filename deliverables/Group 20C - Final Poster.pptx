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55448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Dark Pattern Recognition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" y="530352"/>
            <a:ext cx="5943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E2E8F0"/>
                </a:solidFill>
              </a:defRPr>
            </a:pPr>
            <a:r>
              <a:t>AI4ALL Ignite Team 20C | Supervised NLP for E-Commerce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29400" y="320040"/>
            <a:ext cx="4983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>
                <a:solidFill>
                  <a:srgbClr val="E2E8F0"/>
                </a:solidFill>
              </a:defRPr>
            </a:pPr>
            <a:r>
              <a:t>Two trained models: detect suspicious text, then explain likely type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1078992"/>
            <a:ext cx="27889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25296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Research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536192"/>
            <a:ext cx="2331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334155"/>
                </a:solidFill>
              </a:defRPr>
            </a:pPr>
            <a:r>
              <a:t>Can supervised text classifiers detect dark-pattern language, and what are the limits of text-first detection?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59152"/>
            <a:ext cx="27889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23744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816352"/>
            <a:ext cx="233172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880">
                <a:solidFill>
                  <a:srgbClr val="334155"/>
                </a:solidFill>
              </a:defRPr>
            </a:pPr>
            <a:r>
              <a:t>Primary binary: 2,356 balanced snippets</a:t>
            </a:r>
          </a:p>
          <a:p>
            <a:pPr>
              <a:spcAft>
                <a:spcPts val="700"/>
              </a:spcAft>
              <a:defRPr sz="880">
                <a:solidFill>
                  <a:srgbClr val="334155"/>
                </a:solidFill>
              </a:defRPr>
            </a:pPr>
            <a:r>
              <a:t>Category model: 1,861 dark-pattern rows</a:t>
            </a:r>
          </a:p>
          <a:p>
            <a:pPr>
              <a:spcAft>
                <a:spcPts val="700"/>
              </a:spcAft>
              <a:defRPr sz="880">
                <a:solidFill>
                  <a:srgbClr val="334155"/>
                </a:solidFill>
              </a:defRPr>
            </a:pPr>
            <a:r>
              <a:t>Labels: Urgency, Scarcity, Social Proof, Misdirection, Obstruction, Sneaking, Forced 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913632"/>
            <a:ext cx="27889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078224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Responsible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370832"/>
            <a:ext cx="2331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900">
                <a:solidFill>
                  <a:srgbClr val="334155"/>
                </a:solidFill>
              </a:defRPr>
            </a:pPr>
            <a:r>
              <a:t>Predictions are review signals, not accusations.</a:t>
            </a:r>
          </a:p>
          <a:p>
            <a:pPr>
              <a:spcAft>
                <a:spcPts val="700"/>
              </a:spcAft>
              <a:defRPr sz="900">
                <a:solidFill>
                  <a:srgbClr val="334155"/>
                </a:solidFill>
              </a:defRPr>
            </a:pPr>
            <a:r>
              <a:t>False positives can unfairly flag normal marketing.</a:t>
            </a:r>
          </a:p>
          <a:p>
            <a:pPr>
              <a:spcAft>
                <a:spcPts val="700"/>
              </a:spcAft>
              <a:defRPr sz="900">
                <a:solidFill>
                  <a:srgbClr val="334155"/>
                </a:solidFill>
              </a:defRPr>
            </a:pPr>
            <a:r>
              <a:t>Text-only models miss layout, buttons, images, and flows.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0" y="1078992"/>
            <a:ext cx="52578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03320" y="12344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172A"/>
                </a:solidFill>
              </a:defRPr>
            </a:pPr>
            <a:r>
              <a:t>Two-Model Demo Flow</a:t>
            </a:r>
          </a:p>
        </p:txBody>
      </p:sp>
      <p:pic>
        <p:nvPicPr>
          <p:cNvPr id="18" name="Picture 17" descr="two_stage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0752" y="1627632"/>
            <a:ext cx="4754880" cy="2188913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3474720" y="4572000"/>
            <a:ext cx="5257800" cy="14447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two_model_summary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887" y="4718304"/>
            <a:ext cx="4800600" cy="240030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9034272" y="1078992"/>
            <a:ext cx="2743200" cy="12984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17152" y="124358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Results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7152" y="160934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E04B48"/>
                </a:solidFill>
              </a:defRPr>
            </a:pPr>
            <a:r>
              <a:t>Model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1609344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4155"/>
                </a:solidFill>
              </a:defRPr>
            </a:pPr>
            <a:r>
              <a:t>F1 0.936, accuracy 93.9%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190195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0E7490"/>
                </a:solidFill>
              </a:defRPr>
            </a:pPr>
            <a:r>
              <a:t>Model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1901952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334155"/>
                </a:solidFill>
              </a:defRPr>
            </a:pPr>
            <a:r>
              <a:t>Macro F1 0.894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34272" y="2651760"/>
            <a:ext cx="27432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17152" y="2816352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Category Performance</a:t>
            </a:r>
          </a:p>
        </p:txBody>
      </p:sp>
      <p:pic>
        <p:nvPicPr>
          <p:cNvPr id="29" name="Picture 28" descr="category_per_class_f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3127248"/>
            <a:ext cx="2487168" cy="1477227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9034272" y="4828032"/>
            <a:ext cx="27432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17152" y="499262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Demo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7152" y="5285232"/>
            <a:ext cx="22402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869">
                <a:solidFill>
                  <a:srgbClr val="334155"/>
                </a:solidFill>
              </a:defRPr>
            </a:pPr>
            <a:r>
              <a:t>Streamlit: analyze text + scan webpage</a:t>
            </a:r>
          </a:p>
          <a:p>
            <a:pPr>
              <a:spcAft>
                <a:spcPts val="700"/>
              </a:spcAft>
              <a:defRPr sz="869">
                <a:solidFill>
                  <a:srgbClr val="334155"/>
                </a:solidFill>
              </a:defRPr>
            </a:pPr>
            <a:r>
              <a:t>Shows main answer, confidence, likely type</a:t>
            </a:r>
          </a:p>
          <a:p>
            <a:pPr>
              <a:spcAft>
                <a:spcPts val="700"/>
              </a:spcAft>
              <a:defRPr sz="869">
                <a:solidFill>
                  <a:srgbClr val="334155"/>
                </a:solidFill>
              </a:defRPr>
            </a:pPr>
            <a:r>
              <a:t>Filters reduce low-context false positives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6428232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0">
                <a:solidFill>
                  <a:srgbClr val="64748B"/>
                </a:solidFill>
              </a:defRPr>
            </a:pPr>
            <a:r>
              <a:t>github.com/RadRebelSam/ai4all-20c-darkpatterns  |  radrebelsam.github.io/ai4all-20c-darkpatterns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