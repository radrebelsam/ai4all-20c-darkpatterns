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1463040"/>
            <a:ext cx="10972800" cy="1097280"/>
          </a:xfrm>
          <a:prstGeom prst="rect">
            <a:avLst/>
          </a:prstGeom>
          <a:noFill/>
        </p:spPr>
        <p:txBody>
          <a:bodyPr wrap="none">
            <a:spAutoFit/>
          </a:bodyPr>
          <a:lstStyle/>
          <a:p>
            <a:pPr>
              <a:defRPr sz="4400" b="1">
                <a:solidFill>
                  <a:srgbClr val="212529"/>
                </a:solidFill>
              </a:defRPr>
            </a:pPr>
            <a:r>
              <a:t>Dark Pattern Recognition</a:t>
            </a:r>
          </a:p>
        </p:txBody>
      </p:sp>
      <p:sp>
        <p:nvSpPr>
          <p:cNvPr id="3" name="TextBox 2"/>
          <p:cNvSpPr txBox="1"/>
          <p:nvPr/>
        </p:nvSpPr>
        <p:spPr>
          <a:xfrm>
            <a:off x="685800" y="2743200"/>
            <a:ext cx="10515600" cy="914400"/>
          </a:xfrm>
          <a:prstGeom prst="rect">
            <a:avLst/>
          </a:prstGeom>
          <a:noFill/>
        </p:spPr>
        <p:txBody>
          <a:bodyPr wrap="none">
            <a:spAutoFit/>
          </a:bodyPr>
          <a:lstStyle/>
          <a:p>
            <a:pPr>
              <a:defRPr sz="2200" b="0">
                <a:solidFill>
                  <a:srgbClr val="212529"/>
                </a:solidFill>
              </a:defRPr>
            </a:pPr>
            <a:r>
              <a:t>Group Members: Rakshita Saroha, Rutvi Karnik, Akanksha Madhu Kiran, Dexin Yang, Samyog Maharjan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155680" cy="640080"/>
          </a:xfrm>
          <a:prstGeom prst="rect">
            <a:avLst/>
          </a:prstGeom>
          <a:noFill/>
        </p:spPr>
        <p:txBody>
          <a:bodyPr wrap="none">
            <a:spAutoFit/>
          </a:bodyPr>
          <a:lstStyle/>
          <a:p>
            <a:pPr>
              <a:defRPr sz="3000" b="1">
                <a:solidFill>
                  <a:srgbClr val="212529"/>
                </a:solidFill>
              </a:defRPr>
            </a:pPr>
            <a:r>
              <a:t>Topic of Interest</a:t>
            </a:r>
          </a:p>
        </p:txBody>
      </p:sp>
      <p:sp>
        <p:nvSpPr>
          <p:cNvPr id="3" name="TextBox 2"/>
          <p:cNvSpPr txBox="1"/>
          <p:nvPr/>
        </p:nvSpPr>
        <p:spPr>
          <a:xfrm>
            <a:off x="548640" y="1188720"/>
            <a:ext cx="10972800" cy="5212080"/>
          </a:xfrm>
          <a:prstGeom prst="rect">
            <a:avLst/>
          </a:prstGeom>
          <a:noFill/>
        </p:spPr>
        <p:txBody>
          <a:bodyPr wrap="square">
            <a:spAutoFit/>
          </a:bodyPr>
          <a:lstStyle/>
          <a:p>
            <a:pPr>
              <a:defRPr sz="2200"/>
            </a:pPr>
            <a:r>
              <a:t>Our team will identify marketing dark patterns on e-commerce websites using text-based machine learning. The model detects potentially manipulative language from website copy, and our Playwright demo scans visible webpage text so users can see how the model performs on real pages.</a:t>
            </a:r>
          </a:p>
        </p:txBody>
      </p:sp>
      <p:sp>
        <p:nvSpPr>
          <p:cNvPr id="4" name="TextBox 3"/>
          <p:cNvSpPr txBox="1"/>
          <p:nvPr/>
        </p:nvSpPr>
        <p:spPr>
          <a:xfrm>
            <a:off x="548640" y="6400800"/>
            <a:ext cx="10972800" cy="228600"/>
          </a:xfrm>
          <a:prstGeom prst="rect">
            <a:avLst/>
          </a:prstGeom>
          <a:noFill/>
        </p:spPr>
        <p:txBody>
          <a:bodyPr wrap="none">
            <a:spAutoFit/>
          </a:bodyPr>
          <a:lstStyle/>
          <a:p>
            <a:pPr>
              <a:defRPr sz="900" b="0">
                <a:solidFill>
                  <a:srgbClr val="212529"/>
                </a:solidFill>
              </a:defRPr>
            </a:pPr>
            <a:r>
              <a:t>Group 20C - Dark Pattern Recognition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155680" cy="640080"/>
          </a:xfrm>
          <a:prstGeom prst="rect">
            <a:avLst/>
          </a:prstGeom>
          <a:noFill/>
        </p:spPr>
        <p:txBody>
          <a:bodyPr wrap="none">
            <a:spAutoFit/>
          </a:bodyPr>
          <a:lstStyle/>
          <a:p>
            <a:pPr>
              <a:defRPr sz="3000" b="1">
                <a:solidFill>
                  <a:srgbClr val="212529"/>
                </a:solidFill>
              </a:defRPr>
            </a:pPr>
            <a:r>
              <a:t>1. Why Is This Topic Important?</a:t>
            </a:r>
          </a:p>
        </p:txBody>
      </p:sp>
      <p:sp>
        <p:nvSpPr>
          <p:cNvPr id="3" name="TextBox 2"/>
          <p:cNvSpPr txBox="1"/>
          <p:nvPr/>
        </p:nvSpPr>
        <p:spPr>
          <a:xfrm>
            <a:off x="548640" y="1188720"/>
            <a:ext cx="10972800" cy="5212080"/>
          </a:xfrm>
          <a:prstGeom prst="rect">
            <a:avLst/>
          </a:prstGeom>
          <a:noFill/>
        </p:spPr>
        <p:txBody>
          <a:bodyPr wrap="square">
            <a:spAutoFit/>
          </a:bodyPr>
          <a:lstStyle/>
          <a:p>
            <a:pPr>
              <a:defRPr sz="2200"/>
            </a:pPr>
            <a:r>
              <a:t>Dark patterns can pressure users into purchases, subscriptions, or data-sharing choices they did not intend. Detecting these patterns matters for consumer privacy, digital ethics, and trust in online shopping platforms.</a:t>
            </a:r>
          </a:p>
        </p:txBody>
      </p:sp>
      <p:sp>
        <p:nvSpPr>
          <p:cNvPr id="4" name="TextBox 3"/>
          <p:cNvSpPr txBox="1"/>
          <p:nvPr/>
        </p:nvSpPr>
        <p:spPr>
          <a:xfrm>
            <a:off x="548640" y="6400800"/>
            <a:ext cx="10972800" cy="228600"/>
          </a:xfrm>
          <a:prstGeom prst="rect">
            <a:avLst/>
          </a:prstGeom>
          <a:noFill/>
        </p:spPr>
        <p:txBody>
          <a:bodyPr wrap="none">
            <a:spAutoFit/>
          </a:bodyPr>
          <a:lstStyle/>
          <a:p>
            <a:pPr>
              <a:defRPr sz="900" b="0">
                <a:solidFill>
                  <a:srgbClr val="212529"/>
                </a:solidFill>
              </a:defRPr>
            </a:pPr>
            <a:r>
              <a:t>Group 20C - Dark Pattern Recognition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155680" cy="640080"/>
          </a:xfrm>
          <a:prstGeom prst="rect">
            <a:avLst/>
          </a:prstGeom>
          <a:noFill/>
        </p:spPr>
        <p:txBody>
          <a:bodyPr wrap="none">
            <a:spAutoFit/>
          </a:bodyPr>
          <a:lstStyle/>
          <a:p>
            <a:pPr>
              <a:defRPr sz="3000" b="1">
                <a:solidFill>
                  <a:srgbClr val="212529"/>
                </a:solidFill>
              </a:defRPr>
            </a:pPr>
            <a:r>
              <a:t>2. How Will Data Be Used?</a:t>
            </a:r>
          </a:p>
        </p:txBody>
      </p:sp>
      <p:sp>
        <p:nvSpPr>
          <p:cNvPr id="3" name="TextBox 2"/>
          <p:cNvSpPr txBox="1"/>
          <p:nvPr/>
        </p:nvSpPr>
        <p:spPr>
          <a:xfrm>
            <a:off x="548640" y="1188720"/>
            <a:ext cx="10972800" cy="5212080"/>
          </a:xfrm>
          <a:prstGeom prst="rect">
            <a:avLst/>
          </a:prstGeom>
          <a:noFill/>
        </p:spPr>
        <p:txBody>
          <a:bodyPr wrap="square">
            <a:spAutoFit/>
          </a:bodyPr>
          <a:lstStyle/>
          <a:p>
            <a:pPr>
              <a:spcAft>
                <a:spcPts val="800"/>
              </a:spcAft>
              <a:defRPr sz="2100"/>
            </a:pPr>
            <a:r>
              <a:t>Normalize datasets into common columns: text, label, category, and source.</a:t>
            </a:r>
          </a:p>
          <a:p>
            <a:pPr>
              <a:spcAft>
                <a:spcPts val="800"/>
              </a:spcAft>
              <a:defRPr sz="2100"/>
            </a:pPr>
            <a:r>
              <a:t>Train supervised text classifiers using TF-IDF features.</a:t>
            </a:r>
          </a:p>
          <a:p>
            <a:pPr>
              <a:spcAft>
                <a:spcPts val="800"/>
              </a:spcAft>
              <a:defRPr sz="2100"/>
            </a:pPr>
            <a:r>
              <a:t>Compare Logistic Regression, Naive Bayes, Linear SVM, Decision Trees, and Random Forests.</a:t>
            </a:r>
          </a:p>
          <a:p>
            <a:pPr>
              <a:spcAft>
                <a:spcPts val="800"/>
              </a:spcAft>
              <a:defRPr sz="2100"/>
            </a:pPr>
            <a:r>
              <a:t>Train a second-stage category model on dark-pattern rows to estimate likely type.</a:t>
            </a:r>
          </a:p>
          <a:p>
            <a:pPr>
              <a:spcAft>
                <a:spcPts val="800"/>
              </a:spcAft>
              <a:defRPr sz="2100"/>
            </a:pPr>
            <a:r>
              <a:t>Run an expanded experiment with Devitachi and Akash Nath sources in addition to the balanced primary dataset.</a:t>
            </a:r>
          </a:p>
          <a:p>
            <a:pPr>
              <a:spcAft>
                <a:spcPts val="800"/>
              </a:spcAft>
              <a:defRPr sz="2100"/>
            </a:pPr>
            <a:r>
              <a:t>Use Playwright to collect visible webpage text during the demo and run snippets through the trained model.</a:t>
            </a:r>
          </a:p>
        </p:txBody>
      </p:sp>
      <p:sp>
        <p:nvSpPr>
          <p:cNvPr id="4" name="TextBox 3"/>
          <p:cNvSpPr txBox="1"/>
          <p:nvPr/>
        </p:nvSpPr>
        <p:spPr>
          <a:xfrm>
            <a:off x="548640" y="6400800"/>
            <a:ext cx="10972800" cy="228600"/>
          </a:xfrm>
          <a:prstGeom prst="rect">
            <a:avLst/>
          </a:prstGeom>
          <a:noFill/>
        </p:spPr>
        <p:txBody>
          <a:bodyPr wrap="none">
            <a:spAutoFit/>
          </a:bodyPr>
          <a:lstStyle/>
          <a:p>
            <a:pPr>
              <a:defRPr sz="900" b="0">
                <a:solidFill>
                  <a:srgbClr val="212529"/>
                </a:solidFill>
              </a:defRPr>
            </a:pPr>
            <a:r>
              <a:t>Group 20C - Dark Pattern Recognition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155680" cy="640080"/>
          </a:xfrm>
          <a:prstGeom prst="rect">
            <a:avLst/>
          </a:prstGeom>
          <a:noFill/>
        </p:spPr>
        <p:txBody>
          <a:bodyPr wrap="none">
            <a:spAutoFit/>
          </a:bodyPr>
          <a:lstStyle/>
          <a:p>
            <a:pPr>
              <a:defRPr sz="3000" b="1">
                <a:solidFill>
                  <a:srgbClr val="212529"/>
                </a:solidFill>
              </a:defRPr>
            </a:pPr>
            <a:r>
              <a:t>3. Potential Impact</a:t>
            </a:r>
          </a:p>
        </p:txBody>
      </p:sp>
      <p:sp>
        <p:nvSpPr>
          <p:cNvPr id="3" name="TextBox 2"/>
          <p:cNvSpPr txBox="1"/>
          <p:nvPr/>
        </p:nvSpPr>
        <p:spPr>
          <a:xfrm>
            <a:off x="548640" y="1188720"/>
            <a:ext cx="10972800" cy="5212080"/>
          </a:xfrm>
          <a:prstGeom prst="rect">
            <a:avLst/>
          </a:prstGeom>
          <a:noFill/>
        </p:spPr>
        <p:txBody>
          <a:bodyPr wrap="square">
            <a:spAutoFit/>
          </a:bodyPr>
          <a:lstStyle/>
          <a:p>
            <a:pPr>
              <a:defRPr sz="2200"/>
            </a:pPr>
            <a:r>
              <a:t>The project can help users recognize false urgency, scarcity messages, confirmshaming, and social proof claims. It can also encourage more transparent design, while making clear that predictions should support human review rather than replace judgment.</a:t>
            </a:r>
          </a:p>
        </p:txBody>
      </p:sp>
      <p:sp>
        <p:nvSpPr>
          <p:cNvPr id="4" name="TextBox 3"/>
          <p:cNvSpPr txBox="1"/>
          <p:nvPr/>
        </p:nvSpPr>
        <p:spPr>
          <a:xfrm>
            <a:off x="548640" y="6400800"/>
            <a:ext cx="10972800" cy="228600"/>
          </a:xfrm>
          <a:prstGeom prst="rect">
            <a:avLst/>
          </a:prstGeom>
          <a:noFill/>
        </p:spPr>
        <p:txBody>
          <a:bodyPr wrap="none">
            <a:spAutoFit/>
          </a:bodyPr>
          <a:lstStyle/>
          <a:p>
            <a:pPr>
              <a:defRPr sz="900" b="0">
                <a:solidFill>
                  <a:srgbClr val="212529"/>
                </a:solidFill>
              </a:defRPr>
            </a:pPr>
            <a:r>
              <a:t>Group 20C - Dark Pattern Recognition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155680" cy="640080"/>
          </a:xfrm>
          <a:prstGeom prst="rect">
            <a:avLst/>
          </a:prstGeom>
          <a:noFill/>
        </p:spPr>
        <p:txBody>
          <a:bodyPr wrap="none">
            <a:spAutoFit/>
          </a:bodyPr>
          <a:lstStyle/>
          <a:p>
            <a:pPr>
              <a:defRPr sz="3000" b="1">
                <a:solidFill>
                  <a:srgbClr val="212529"/>
                </a:solidFill>
              </a:defRPr>
            </a:pPr>
            <a:r>
              <a:t>Machine Learning Algorithm(s)</a:t>
            </a:r>
          </a:p>
        </p:txBody>
      </p:sp>
      <p:sp>
        <p:nvSpPr>
          <p:cNvPr id="3" name="TextBox 2"/>
          <p:cNvSpPr txBox="1"/>
          <p:nvPr/>
        </p:nvSpPr>
        <p:spPr>
          <a:xfrm>
            <a:off x="548640" y="1188720"/>
            <a:ext cx="10972800" cy="5212080"/>
          </a:xfrm>
          <a:prstGeom prst="rect">
            <a:avLst/>
          </a:prstGeom>
          <a:noFill/>
        </p:spPr>
        <p:txBody>
          <a:bodyPr wrap="square">
            <a:spAutoFit/>
          </a:bodyPr>
          <a:lstStyle/>
          <a:p>
            <a:pPr>
              <a:spcAft>
                <a:spcPts val="800"/>
              </a:spcAft>
              <a:defRPr sz="2100"/>
            </a:pPr>
            <a:r>
              <a:t>TF-IDF: converts website text into numerical features.</a:t>
            </a:r>
          </a:p>
          <a:p>
            <a:pPr>
              <a:spcAft>
                <a:spcPts val="800"/>
              </a:spcAft>
              <a:defRPr sz="2100"/>
            </a:pPr>
            <a:r>
              <a:t>Primary model: Logistic Regression, selected for strongest F1 score and interpretability.</a:t>
            </a:r>
          </a:p>
          <a:p>
            <a:pPr>
              <a:spcAft>
                <a:spcPts val="800"/>
              </a:spcAft>
              <a:defRPr sz="2100"/>
            </a:pPr>
            <a:r>
              <a:t>Comparison models: Naive Bayes, Linear SVM, Decision Tree, and Random Forest.</a:t>
            </a:r>
          </a:p>
          <a:p>
            <a:pPr>
              <a:spcAft>
                <a:spcPts val="800"/>
              </a:spcAft>
              <a:defRPr sz="2100"/>
            </a:pPr>
            <a:r>
              <a:t>Second-stage model: category classifier for suspicious snippets.</a:t>
            </a:r>
          </a:p>
          <a:p>
            <a:pPr>
              <a:spcAft>
                <a:spcPts val="800"/>
              </a:spcAft>
              <a:defRPr sz="2100"/>
            </a:pPr>
            <a:r>
              <a:t>Expanded experiment: Linear SVM performs best when adding Devitachi and Akash Nath data.</a:t>
            </a:r>
          </a:p>
          <a:p>
            <a:pPr>
              <a:spcAft>
                <a:spcPts val="800"/>
              </a:spcAft>
              <a:defRPr sz="2100"/>
            </a:pPr>
            <a:r>
              <a:t>Demo layer: Playwright webpage scanner for visible text and some DOM-based popup text.</a:t>
            </a:r>
          </a:p>
        </p:txBody>
      </p:sp>
      <p:sp>
        <p:nvSpPr>
          <p:cNvPr id="4" name="TextBox 3"/>
          <p:cNvSpPr txBox="1"/>
          <p:nvPr/>
        </p:nvSpPr>
        <p:spPr>
          <a:xfrm>
            <a:off x="548640" y="6400800"/>
            <a:ext cx="10972800" cy="228600"/>
          </a:xfrm>
          <a:prstGeom prst="rect">
            <a:avLst/>
          </a:prstGeom>
          <a:noFill/>
        </p:spPr>
        <p:txBody>
          <a:bodyPr wrap="none">
            <a:spAutoFit/>
          </a:bodyPr>
          <a:lstStyle/>
          <a:p>
            <a:pPr>
              <a:defRPr sz="900" b="0">
                <a:solidFill>
                  <a:srgbClr val="212529"/>
                </a:solidFill>
              </a:defRPr>
            </a:pPr>
            <a:r>
              <a:t>Group 20C - Dark Pattern Recognition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155680" cy="640080"/>
          </a:xfrm>
          <a:prstGeom prst="rect">
            <a:avLst/>
          </a:prstGeom>
          <a:noFill/>
        </p:spPr>
        <p:txBody>
          <a:bodyPr wrap="none">
            <a:spAutoFit/>
          </a:bodyPr>
          <a:lstStyle/>
          <a:p>
            <a:pPr>
              <a:defRPr sz="3000" b="1">
                <a:solidFill>
                  <a:srgbClr val="212529"/>
                </a:solidFill>
              </a:defRPr>
            </a:pPr>
            <a:r>
              <a:t>Second-Stage Category Model</a:t>
            </a:r>
          </a:p>
        </p:txBody>
      </p:sp>
      <p:sp>
        <p:nvSpPr>
          <p:cNvPr id="3" name="TextBox 2"/>
          <p:cNvSpPr txBox="1"/>
          <p:nvPr/>
        </p:nvSpPr>
        <p:spPr>
          <a:xfrm>
            <a:off x="548640" y="1188720"/>
            <a:ext cx="10972800" cy="5212080"/>
          </a:xfrm>
          <a:prstGeom prst="rect">
            <a:avLst/>
          </a:prstGeom>
          <a:noFill/>
        </p:spPr>
        <p:txBody>
          <a:bodyPr wrap="square">
            <a:spAutoFit/>
          </a:bodyPr>
          <a:lstStyle/>
          <a:p>
            <a:pPr>
              <a:spcAft>
                <a:spcPts val="800"/>
              </a:spcAft>
              <a:defRPr sz="2100"/>
            </a:pPr>
            <a:r>
              <a:t>Main binary model: predicts Dark Pattern vs Not Dark Pattern.</a:t>
            </a:r>
          </a:p>
          <a:p>
            <a:pPr>
              <a:spcAft>
                <a:spcPts val="800"/>
              </a:spcAft>
              <a:defRPr sz="2100"/>
            </a:pPr>
            <a:r>
              <a:t>Category model: predicts likely type only after text looks suspicious.</a:t>
            </a:r>
          </a:p>
          <a:p>
            <a:pPr>
              <a:spcAft>
                <a:spcPts val="800"/>
              </a:spcAft>
              <a:defRPr sz="2100"/>
            </a:pPr>
            <a:r>
              <a:t>Types include Scarcity, Social Proof, Urgency, Misdirection, Forced Action, Obstruction, and Sneaking.</a:t>
            </a:r>
          </a:p>
          <a:p>
            <a:pPr>
              <a:spcAft>
                <a:spcPts val="800"/>
              </a:spcAft>
              <a:defRPr sz="2100"/>
            </a:pPr>
            <a:r>
              <a:t>Best category model: Linear SVM with macro F1 around 0.894.</a:t>
            </a:r>
          </a:p>
          <a:p>
            <a:pPr>
              <a:spcAft>
                <a:spcPts val="800"/>
              </a:spcAft>
              <a:defRPr sz="2100"/>
            </a:pPr>
            <a:r>
              <a:t>Limitation: category labels are imbalanced, so this is supporting detail, not a final category judgment.</a:t>
            </a:r>
          </a:p>
        </p:txBody>
      </p:sp>
      <p:sp>
        <p:nvSpPr>
          <p:cNvPr id="4" name="TextBox 3"/>
          <p:cNvSpPr txBox="1"/>
          <p:nvPr/>
        </p:nvSpPr>
        <p:spPr>
          <a:xfrm>
            <a:off x="548640" y="6400800"/>
            <a:ext cx="10972800" cy="228600"/>
          </a:xfrm>
          <a:prstGeom prst="rect">
            <a:avLst/>
          </a:prstGeom>
          <a:noFill/>
        </p:spPr>
        <p:txBody>
          <a:bodyPr wrap="none">
            <a:spAutoFit/>
          </a:bodyPr>
          <a:lstStyle/>
          <a:p>
            <a:pPr>
              <a:defRPr sz="900" b="0">
                <a:solidFill>
                  <a:srgbClr val="212529"/>
                </a:solidFill>
              </a:defRPr>
            </a:pPr>
            <a:r>
              <a:t>Group 20C - Dark Pattern Recognition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155680" cy="640080"/>
          </a:xfrm>
          <a:prstGeom prst="rect">
            <a:avLst/>
          </a:prstGeom>
          <a:noFill/>
        </p:spPr>
        <p:txBody>
          <a:bodyPr wrap="none">
            <a:spAutoFit/>
          </a:bodyPr>
          <a:lstStyle/>
          <a:p>
            <a:pPr>
              <a:defRPr sz="3000" b="1">
                <a:solidFill>
                  <a:srgbClr val="212529"/>
                </a:solidFill>
              </a:defRPr>
            </a:pPr>
            <a:r>
              <a:t>Research Question</a:t>
            </a:r>
          </a:p>
        </p:txBody>
      </p:sp>
      <p:sp>
        <p:nvSpPr>
          <p:cNvPr id="3" name="TextBox 2"/>
          <p:cNvSpPr txBox="1"/>
          <p:nvPr/>
        </p:nvSpPr>
        <p:spPr>
          <a:xfrm>
            <a:off x="548640" y="1188720"/>
            <a:ext cx="10972800" cy="5212080"/>
          </a:xfrm>
          <a:prstGeom prst="rect">
            <a:avLst/>
          </a:prstGeom>
          <a:noFill/>
        </p:spPr>
        <p:txBody>
          <a:bodyPr wrap="square">
            <a:spAutoFit/>
          </a:bodyPr>
          <a:lstStyle/>
          <a:p>
            <a:pPr>
              <a:defRPr sz="2200"/>
            </a:pPr>
            <a:r>
              <a:t>How effectively can text-based machine learning models identify marketing dark patterns in e-commerce website copy, and can a webpage text-scanning demo help consumers recognize manipulative marketing techniques while still preserving human judgment?</a:t>
            </a:r>
          </a:p>
        </p:txBody>
      </p:sp>
      <p:sp>
        <p:nvSpPr>
          <p:cNvPr id="4" name="TextBox 3"/>
          <p:cNvSpPr txBox="1"/>
          <p:nvPr/>
        </p:nvSpPr>
        <p:spPr>
          <a:xfrm>
            <a:off x="548640" y="6400800"/>
            <a:ext cx="10972800" cy="228600"/>
          </a:xfrm>
          <a:prstGeom prst="rect">
            <a:avLst/>
          </a:prstGeom>
          <a:noFill/>
        </p:spPr>
        <p:txBody>
          <a:bodyPr wrap="none">
            <a:spAutoFit/>
          </a:bodyPr>
          <a:lstStyle/>
          <a:p>
            <a:pPr>
              <a:defRPr sz="900" b="0">
                <a:solidFill>
                  <a:srgbClr val="212529"/>
                </a:solidFill>
              </a:defRPr>
            </a:pPr>
            <a:r>
              <a:t>Group 20C - Dark Pattern Recognition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155680" cy="640080"/>
          </a:xfrm>
          <a:prstGeom prst="rect">
            <a:avLst/>
          </a:prstGeom>
          <a:noFill/>
        </p:spPr>
        <p:txBody>
          <a:bodyPr wrap="none">
            <a:spAutoFit/>
          </a:bodyPr>
          <a:lstStyle/>
          <a:p>
            <a:pPr>
              <a:defRPr sz="3000" b="1">
                <a:solidFill>
                  <a:srgbClr val="212529"/>
                </a:solidFill>
              </a:defRPr>
            </a:pPr>
            <a:r>
              <a:t>Dataset(s)</a:t>
            </a:r>
          </a:p>
        </p:txBody>
      </p:sp>
      <p:sp>
        <p:nvSpPr>
          <p:cNvPr id="3" name="TextBox 2"/>
          <p:cNvSpPr txBox="1"/>
          <p:nvPr/>
        </p:nvSpPr>
        <p:spPr>
          <a:xfrm>
            <a:off x="548640" y="1188720"/>
            <a:ext cx="10972800" cy="5212080"/>
          </a:xfrm>
          <a:prstGeom prst="rect">
            <a:avLst/>
          </a:prstGeom>
          <a:noFill/>
        </p:spPr>
        <p:txBody>
          <a:bodyPr wrap="square">
            <a:spAutoFit/>
          </a:bodyPr>
          <a:lstStyle/>
          <a:p>
            <a:pPr>
              <a:spcAft>
                <a:spcPts val="800"/>
              </a:spcAft>
              <a:defRPr sz="2100"/>
            </a:pPr>
            <a:r>
              <a:t>Primary: Krish Uppal Dark Patterns dataset, Kaggle, 2,356 balanced examples.</a:t>
            </a:r>
          </a:p>
          <a:p>
            <a:pPr>
              <a:spcAft>
                <a:spcPts val="800"/>
              </a:spcAft>
              <a:defRPr sz="2100"/>
            </a:pPr>
            <a:r>
              <a:t>Supplemental: DeVitachi Dark-Pattern dataset, Kaggle, used as source provenance/metadata because text overlaps with the primary dataset.</a:t>
            </a:r>
          </a:p>
          <a:p>
            <a:pPr>
              <a:spcAft>
                <a:spcPts val="800"/>
              </a:spcAft>
              <a:defRPr sz="2100"/>
            </a:pPr>
            <a:r>
              <a:t>Supplemental: Akash Nath Deceptive Patterns dataset, Kaggle, adds binary classification examples after cleaning.</a:t>
            </a:r>
          </a:p>
          <a:p>
            <a:pPr>
              <a:spcAft>
                <a:spcPts val="800"/>
              </a:spcAft>
              <a:defRPr sz="2100"/>
            </a:pPr>
            <a:r>
              <a:t>Expanded option: 4,151 unique text rows after cleaning and deduplication/source aggregation.</a:t>
            </a:r>
          </a:p>
        </p:txBody>
      </p:sp>
      <p:sp>
        <p:nvSpPr>
          <p:cNvPr id="4" name="TextBox 3"/>
          <p:cNvSpPr txBox="1"/>
          <p:nvPr/>
        </p:nvSpPr>
        <p:spPr>
          <a:xfrm>
            <a:off x="548640" y="6400800"/>
            <a:ext cx="10972800" cy="228600"/>
          </a:xfrm>
          <a:prstGeom prst="rect">
            <a:avLst/>
          </a:prstGeom>
          <a:noFill/>
        </p:spPr>
        <p:txBody>
          <a:bodyPr wrap="none">
            <a:spAutoFit/>
          </a:bodyPr>
          <a:lstStyle/>
          <a:p>
            <a:pPr>
              <a:defRPr sz="900" b="0">
                <a:solidFill>
                  <a:srgbClr val="212529"/>
                </a:solidFill>
              </a:defRPr>
            </a:pPr>
            <a:r>
              <a:t>Group 20C - Dark Pattern Recognition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155680" cy="640080"/>
          </a:xfrm>
          <a:prstGeom prst="rect">
            <a:avLst/>
          </a:prstGeom>
          <a:noFill/>
        </p:spPr>
        <p:txBody>
          <a:bodyPr wrap="none">
            <a:spAutoFit/>
          </a:bodyPr>
          <a:lstStyle/>
          <a:p>
            <a:pPr>
              <a:defRPr sz="3000" b="1">
                <a:solidFill>
                  <a:srgbClr val="212529"/>
                </a:solidFill>
              </a:defRPr>
            </a:pPr>
            <a:r>
              <a:t>Training &amp; Testing Considerations</a:t>
            </a:r>
          </a:p>
        </p:txBody>
      </p:sp>
      <p:sp>
        <p:nvSpPr>
          <p:cNvPr id="3" name="TextBox 2"/>
          <p:cNvSpPr txBox="1"/>
          <p:nvPr/>
        </p:nvSpPr>
        <p:spPr>
          <a:xfrm>
            <a:off x="548640" y="1188720"/>
            <a:ext cx="10972800" cy="5212080"/>
          </a:xfrm>
          <a:prstGeom prst="rect">
            <a:avLst/>
          </a:prstGeom>
          <a:noFill/>
        </p:spPr>
        <p:txBody>
          <a:bodyPr wrap="square">
            <a:spAutoFit/>
          </a:bodyPr>
          <a:lstStyle/>
          <a:p>
            <a:pPr>
              <a:spcAft>
                <a:spcPts val="800"/>
              </a:spcAft>
              <a:defRPr sz="2100"/>
            </a:pPr>
            <a:r>
              <a:t>Use an 80/20 stratified train/test split on the balanced primary dataset.</a:t>
            </a:r>
          </a:p>
          <a:p>
            <a:pPr>
              <a:spcAft>
                <a:spcPts val="800"/>
              </a:spcAft>
              <a:defRPr sz="2100"/>
            </a:pPr>
            <a:r>
              <a:t>Evaluate accuracy, precision, recall, F1 score, and confusion matrix.</a:t>
            </a:r>
          </a:p>
          <a:p>
            <a:pPr>
              <a:spcAft>
                <a:spcPts val="800"/>
              </a:spcAft>
              <a:defRPr sz="2100"/>
            </a:pPr>
            <a:r>
              <a:t>Current best model: TF-IDF + Logistic Regression with F1 around 0.936.</a:t>
            </a:r>
          </a:p>
          <a:p>
            <a:pPr>
              <a:spcAft>
                <a:spcPts val="800"/>
              </a:spcAft>
              <a:defRPr sz="2100"/>
            </a:pPr>
            <a:r>
              <a:t>Second-stage category model: Linear SVM with macro F1 around 0.894.</a:t>
            </a:r>
          </a:p>
          <a:p>
            <a:pPr>
              <a:spcAft>
                <a:spcPts val="800"/>
              </a:spcAft>
              <a:defRPr sz="2100"/>
            </a:pPr>
            <a:r>
              <a:t>Expanded dataset best model: Linear SVM with F1 around 0.872.</a:t>
            </a:r>
          </a:p>
          <a:p>
            <a:pPr>
              <a:spcAft>
                <a:spcPts val="800"/>
              </a:spcAft>
              <a:defRPr sz="2100"/>
            </a:pPr>
            <a:r>
              <a:t>Use a confidence threshold in the webpage scanner to reduce weak false positives.</a:t>
            </a:r>
          </a:p>
        </p:txBody>
      </p:sp>
      <p:sp>
        <p:nvSpPr>
          <p:cNvPr id="4" name="TextBox 3"/>
          <p:cNvSpPr txBox="1"/>
          <p:nvPr/>
        </p:nvSpPr>
        <p:spPr>
          <a:xfrm>
            <a:off x="548640" y="6400800"/>
            <a:ext cx="10972800" cy="228600"/>
          </a:xfrm>
          <a:prstGeom prst="rect">
            <a:avLst/>
          </a:prstGeom>
          <a:noFill/>
        </p:spPr>
        <p:txBody>
          <a:bodyPr wrap="none">
            <a:spAutoFit/>
          </a:bodyPr>
          <a:lstStyle/>
          <a:p>
            <a:pPr>
              <a:defRPr sz="900" b="0">
                <a:solidFill>
                  <a:srgbClr val="212529"/>
                </a:solidFill>
              </a:defRPr>
            </a:pPr>
            <a:r>
              <a:t>Group 20C - Dark Pattern Recognition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155680" cy="640080"/>
          </a:xfrm>
          <a:prstGeom prst="rect">
            <a:avLst/>
          </a:prstGeom>
          <a:noFill/>
        </p:spPr>
        <p:txBody>
          <a:bodyPr wrap="none">
            <a:spAutoFit/>
          </a:bodyPr>
          <a:lstStyle/>
          <a:p>
            <a:pPr>
              <a:defRPr sz="3000" b="1">
                <a:solidFill>
                  <a:srgbClr val="212529"/>
                </a:solidFill>
              </a:defRPr>
            </a:pPr>
            <a:r>
              <a:t>Sources of Bias</a:t>
            </a:r>
          </a:p>
        </p:txBody>
      </p:sp>
      <p:sp>
        <p:nvSpPr>
          <p:cNvPr id="3" name="TextBox 2"/>
          <p:cNvSpPr txBox="1"/>
          <p:nvPr/>
        </p:nvSpPr>
        <p:spPr>
          <a:xfrm>
            <a:off x="548640" y="1188720"/>
            <a:ext cx="10972800" cy="5212080"/>
          </a:xfrm>
          <a:prstGeom prst="rect">
            <a:avLst/>
          </a:prstGeom>
          <a:noFill/>
        </p:spPr>
        <p:txBody>
          <a:bodyPr wrap="square">
            <a:spAutoFit/>
          </a:bodyPr>
          <a:lstStyle/>
          <a:p>
            <a:pPr>
              <a:spcAft>
                <a:spcPts val="800"/>
              </a:spcAft>
              <a:defRPr sz="2100"/>
            </a:pPr>
            <a:r>
              <a:t>Labeling bias: labels reflect dataset creators' judgments.</a:t>
            </a:r>
          </a:p>
          <a:p>
            <a:pPr>
              <a:spcAft>
                <a:spcPts val="800"/>
              </a:spcAft>
              <a:defRPr sz="2100"/>
            </a:pPr>
            <a:r>
              <a:t>Category imbalance: rare categories have much less training data.</a:t>
            </a:r>
          </a:p>
          <a:p>
            <a:pPr>
              <a:spcAft>
                <a:spcPts val="800"/>
              </a:spcAft>
              <a:defRPr sz="2100"/>
            </a:pPr>
            <a:r>
              <a:t>Domain bias: mostly English-language e-commerce examples.</a:t>
            </a:r>
          </a:p>
          <a:p>
            <a:pPr>
              <a:spcAft>
                <a:spcPts val="800"/>
              </a:spcAft>
              <a:defRPr sz="2100"/>
            </a:pPr>
            <a:r>
              <a:t>Text-only limitation: layout, colors, hidden buttons, images, and checkout flows are not fully detected.</a:t>
            </a:r>
          </a:p>
          <a:p>
            <a:pPr>
              <a:spcAft>
                <a:spcPts val="800"/>
              </a:spcAft>
              <a:defRPr sz="2100"/>
            </a:pPr>
            <a:r>
              <a:t>Playwright can collect visible DOM text, but it is not full screenshot, color, or UX-flow understanding.</a:t>
            </a:r>
          </a:p>
        </p:txBody>
      </p:sp>
      <p:sp>
        <p:nvSpPr>
          <p:cNvPr id="4" name="TextBox 3"/>
          <p:cNvSpPr txBox="1"/>
          <p:nvPr/>
        </p:nvSpPr>
        <p:spPr>
          <a:xfrm>
            <a:off x="548640" y="6400800"/>
            <a:ext cx="10972800" cy="228600"/>
          </a:xfrm>
          <a:prstGeom prst="rect">
            <a:avLst/>
          </a:prstGeom>
          <a:noFill/>
        </p:spPr>
        <p:txBody>
          <a:bodyPr wrap="none">
            <a:spAutoFit/>
          </a:bodyPr>
          <a:lstStyle/>
          <a:p>
            <a:pPr>
              <a:defRPr sz="900" b="0">
                <a:solidFill>
                  <a:srgbClr val="212529"/>
                </a:solidFill>
              </a:defRPr>
            </a:pPr>
            <a:r>
              <a:t>Group 20C - Dark Pattern Recognition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155680" cy="640080"/>
          </a:xfrm>
          <a:prstGeom prst="rect">
            <a:avLst/>
          </a:prstGeom>
          <a:noFill/>
        </p:spPr>
        <p:txBody>
          <a:bodyPr wrap="none">
            <a:spAutoFit/>
          </a:bodyPr>
          <a:lstStyle/>
          <a:p>
            <a:pPr>
              <a:defRPr sz="3000" b="1">
                <a:solidFill>
                  <a:srgbClr val="212529"/>
                </a:solidFill>
              </a:defRPr>
            </a:pPr>
            <a:r>
              <a:t>AI Impact &amp; Ethics</a:t>
            </a:r>
          </a:p>
        </p:txBody>
      </p:sp>
      <p:sp>
        <p:nvSpPr>
          <p:cNvPr id="3" name="TextBox 2"/>
          <p:cNvSpPr txBox="1"/>
          <p:nvPr/>
        </p:nvSpPr>
        <p:spPr>
          <a:xfrm>
            <a:off x="548640" y="1188720"/>
            <a:ext cx="10972800" cy="5212080"/>
          </a:xfrm>
          <a:prstGeom prst="rect">
            <a:avLst/>
          </a:prstGeom>
          <a:noFill/>
        </p:spPr>
        <p:txBody>
          <a:bodyPr wrap="square">
            <a:spAutoFit/>
          </a:bodyPr>
          <a:lstStyle/>
          <a:p>
            <a:pPr>
              <a:spcAft>
                <a:spcPts val="800"/>
              </a:spcAft>
              <a:defRPr sz="2100"/>
            </a:pPr>
            <a:r>
              <a:t>Positive impact: helps consumers notice manipulative language before purchases, subscriptions, or data-sharing decisions.</a:t>
            </a:r>
          </a:p>
          <a:p>
            <a:pPr>
              <a:spcAft>
                <a:spcPts val="800"/>
              </a:spcAft>
              <a:defRPr sz="2100"/>
            </a:pPr>
            <a:r>
              <a:t>Positive impact: helps designers and companies audit website copy for potentially deceptive patterns.</a:t>
            </a:r>
          </a:p>
          <a:p>
            <a:pPr>
              <a:spcAft>
                <a:spcPts val="800"/>
              </a:spcAft>
              <a:defRPr sz="2100"/>
            </a:pPr>
            <a:r>
              <a:t>Risk: false positives could unfairly flag legitimate businesses or normal marketing language.</a:t>
            </a:r>
          </a:p>
          <a:p>
            <a:pPr>
              <a:spcAft>
                <a:spcPts val="800"/>
              </a:spcAft>
              <a:defRPr sz="2100"/>
            </a:pPr>
            <a:r>
              <a:t>Risk: false negatives could miss real dark patterns and leave users unprotected.</a:t>
            </a:r>
          </a:p>
          <a:p>
            <a:pPr>
              <a:spcAft>
                <a:spcPts val="800"/>
              </a:spcAft>
              <a:defRPr sz="2100"/>
            </a:pPr>
            <a:r>
              <a:t>Safeguard: use predictions as human-review signals, not final accusations.</a:t>
            </a:r>
          </a:p>
          <a:p>
            <a:pPr>
              <a:spcAft>
                <a:spcPts val="800"/>
              </a:spcAft>
              <a:defRPr sz="2100"/>
            </a:pPr>
            <a:r>
              <a:t>Transparency: the model is text-only and cannot fully judge visual layout, checkout flow, or intent.</a:t>
            </a:r>
          </a:p>
          <a:p>
            <a:pPr>
              <a:spcAft>
                <a:spcPts val="800"/>
              </a:spcAft>
              <a:defRPr sz="2100"/>
            </a:pPr>
            <a:r>
              <a:t>Future work: sentiment can help detect emotional pressure, but surrounding UI context is needed for reliable judgment.</a:t>
            </a:r>
          </a:p>
          <a:p>
            <a:pPr>
              <a:spcAft>
                <a:spcPts val="800"/>
              </a:spcAft>
              <a:defRPr sz="2100"/>
            </a:pPr>
            <a:r>
              <a:t>Production need: OCR for image text, computer vision or DOM/CSS features for color/layout, and scripted journeys for flow-based manipulation.</a:t>
            </a:r>
          </a:p>
        </p:txBody>
      </p:sp>
      <p:sp>
        <p:nvSpPr>
          <p:cNvPr id="4" name="TextBox 3"/>
          <p:cNvSpPr txBox="1"/>
          <p:nvPr/>
        </p:nvSpPr>
        <p:spPr>
          <a:xfrm>
            <a:off x="548640" y="6400800"/>
            <a:ext cx="10972800" cy="228600"/>
          </a:xfrm>
          <a:prstGeom prst="rect">
            <a:avLst/>
          </a:prstGeom>
          <a:noFill/>
        </p:spPr>
        <p:txBody>
          <a:bodyPr wrap="none">
            <a:spAutoFit/>
          </a:bodyPr>
          <a:lstStyle/>
          <a:p>
            <a:pPr>
              <a:defRPr sz="900" b="0">
                <a:solidFill>
                  <a:srgbClr val="212529"/>
                </a:solidFill>
              </a:defRPr>
            </a:pPr>
            <a:r>
              <a:t>Group 20C - Dark Pattern Recognition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155680" cy="640080"/>
          </a:xfrm>
          <a:prstGeom prst="rect">
            <a:avLst/>
          </a:prstGeom>
          <a:noFill/>
        </p:spPr>
        <p:txBody>
          <a:bodyPr wrap="none">
            <a:spAutoFit/>
          </a:bodyPr>
          <a:lstStyle/>
          <a:p>
            <a:pPr>
              <a:defRPr sz="3000" b="1">
                <a:solidFill>
                  <a:srgbClr val="212529"/>
                </a:solidFill>
              </a:defRPr>
            </a:pPr>
            <a:r>
              <a:t>Mitigation Strategies</a:t>
            </a:r>
          </a:p>
        </p:txBody>
      </p:sp>
      <p:sp>
        <p:nvSpPr>
          <p:cNvPr id="3" name="TextBox 2"/>
          <p:cNvSpPr txBox="1"/>
          <p:nvPr/>
        </p:nvSpPr>
        <p:spPr>
          <a:xfrm>
            <a:off x="548640" y="1188720"/>
            <a:ext cx="10972800" cy="5212080"/>
          </a:xfrm>
          <a:prstGeom prst="rect">
            <a:avLst/>
          </a:prstGeom>
          <a:noFill/>
        </p:spPr>
        <p:txBody>
          <a:bodyPr wrap="square">
            <a:spAutoFit/>
          </a:bodyPr>
          <a:lstStyle/>
          <a:p>
            <a:pPr>
              <a:spcAft>
                <a:spcPts val="800"/>
              </a:spcAft>
              <a:defRPr sz="2100"/>
            </a:pPr>
            <a:r>
              <a:t>Clean missing or incomplete text entries.</a:t>
            </a:r>
          </a:p>
          <a:p>
            <a:pPr>
              <a:spcAft>
                <a:spcPts val="800"/>
              </a:spcAft>
              <a:defRPr sz="2100"/>
            </a:pPr>
            <a:r>
              <a:t>Use secondary datasets for comparison and exploratory analysis.</a:t>
            </a:r>
          </a:p>
          <a:p>
            <a:pPr>
              <a:spcAft>
                <a:spcPts val="800"/>
              </a:spcAft>
              <a:defRPr sz="2100"/>
            </a:pPr>
            <a:r>
              <a:t>Report precision, recall, F1, confusion matrix, and edge cases.</a:t>
            </a:r>
          </a:p>
          <a:p>
            <a:pPr>
              <a:spcAft>
                <a:spcPts val="800"/>
              </a:spcAft>
              <a:defRPr sz="2100"/>
            </a:pPr>
            <a:r>
              <a:t>Frame the model as a human-in-the-loop review aid.</a:t>
            </a:r>
          </a:p>
          <a:p>
            <a:pPr>
              <a:spcAft>
                <a:spcPts val="800"/>
              </a:spcAft>
              <a:defRPr sz="2100"/>
            </a:pPr>
            <a:r>
              <a:t>Filter low-confidence webpage scan results by default.</a:t>
            </a:r>
          </a:p>
          <a:p>
            <a:pPr>
              <a:spcAft>
                <a:spcPts val="800"/>
              </a:spcAft>
              <a:defRPr sz="2100"/>
            </a:pPr>
            <a:r>
              <a:t>Filter plain discounts, catalog-style product/spec titles, testimonials, counters, and vague snippets unless they include pressure language.</a:t>
            </a:r>
          </a:p>
          <a:p>
            <a:pPr>
              <a:spcAft>
                <a:spcPts val="800"/>
              </a:spcAft>
              <a:defRPr sz="2100"/>
            </a:pPr>
            <a:r>
              <a:t>Treat sentiment, DOM structure, screenshots, and full UI flow as future work.</a:t>
            </a:r>
          </a:p>
          <a:p>
            <a:pPr>
              <a:spcAft>
                <a:spcPts val="800"/>
              </a:spcAft>
              <a:defRPr sz="2100"/>
            </a:pPr>
            <a:r>
              <a:t>Separate text, OCR, visual, and flow evaluation so each layer has clear evidence.</a:t>
            </a:r>
          </a:p>
        </p:txBody>
      </p:sp>
      <p:sp>
        <p:nvSpPr>
          <p:cNvPr id="4" name="TextBox 3"/>
          <p:cNvSpPr txBox="1"/>
          <p:nvPr/>
        </p:nvSpPr>
        <p:spPr>
          <a:xfrm>
            <a:off x="548640" y="6400800"/>
            <a:ext cx="10972800" cy="228600"/>
          </a:xfrm>
          <a:prstGeom prst="rect">
            <a:avLst/>
          </a:prstGeom>
          <a:noFill/>
        </p:spPr>
        <p:txBody>
          <a:bodyPr wrap="none">
            <a:spAutoFit/>
          </a:bodyPr>
          <a:lstStyle/>
          <a:p>
            <a:pPr>
              <a:defRPr sz="900" b="0">
                <a:solidFill>
                  <a:srgbClr val="212529"/>
                </a:solidFill>
              </a:defRPr>
            </a:pPr>
            <a:r>
              <a:t>Group 20C - Dark Pattern Recognition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155680" cy="640080"/>
          </a:xfrm>
          <a:prstGeom prst="rect">
            <a:avLst/>
          </a:prstGeom>
          <a:noFill/>
        </p:spPr>
        <p:txBody>
          <a:bodyPr wrap="none">
            <a:spAutoFit/>
          </a:bodyPr>
          <a:lstStyle/>
          <a:p>
            <a:pPr>
              <a:defRPr sz="3000" b="1">
                <a:solidFill>
                  <a:srgbClr val="212529"/>
                </a:solidFill>
              </a:defRPr>
            </a:pPr>
            <a:r>
              <a:t>Citations</a:t>
            </a:r>
          </a:p>
        </p:txBody>
      </p:sp>
      <p:sp>
        <p:nvSpPr>
          <p:cNvPr id="3" name="TextBox 2"/>
          <p:cNvSpPr txBox="1"/>
          <p:nvPr/>
        </p:nvSpPr>
        <p:spPr>
          <a:xfrm>
            <a:off x="548640" y="1188720"/>
            <a:ext cx="10972800" cy="5212080"/>
          </a:xfrm>
          <a:prstGeom prst="rect">
            <a:avLst/>
          </a:prstGeom>
          <a:noFill/>
        </p:spPr>
        <p:txBody>
          <a:bodyPr wrap="square">
            <a:spAutoFit/>
          </a:bodyPr>
          <a:lstStyle/>
          <a:p>
            <a:pPr>
              <a:spcAft>
                <a:spcPts val="800"/>
              </a:spcAft>
              <a:defRPr sz="2100"/>
            </a:pPr>
            <a:r>
              <a:t>Mathur et al. (2019). Dark Patterns at Scale. https://doi.org/10.1145/3359183</a:t>
            </a:r>
          </a:p>
          <a:p>
            <a:pPr>
              <a:spcAft>
                <a:spcPts val="800"/>
              </a:spcAft>
              <a:defRPr sz="2100"/>
            </a:pPr>
            <a:r>
              <a:t>Ramteke et al. (2024). Detecting Deceptive Dark Patterns in E-commerce Platforms. https://doi.org/10.48550/arXiv.2406.01608</a:t>
            </a:r>
          </a:p>
          <a:p>
            <a:pPr>
              <a:spcAft>
                <a:spcPts val="800"/>
              </a:spcAft>
              <a:defRPr sz="2100"/>
            </a:pPr>
            <a:r>
              <a:t>Koh &amp; Seah (2023). Unintended consumption. https://doi.org/10.1016/j.clrc.2023.100145</a:t>
            </a:r>
          </a:p>
          <a:p>
            <a:pPr>
              <a:spcAft>
                <a:spcPts val="800"/>
              </a:spcAft>
              <a:defRPr sz="2100"/>
            </a:pPr>
            <a:r>
              <a:t>FTC (2022). Bringing Dark Patterns to Light.</a:t>
            </a:r>
          </a:p>
          <a:p>
            <a:pPr>
              <a:spcAft>
                <a:spcPts val="800"/>
              </a:spcAft>
              <a:defRPr sz="2100"/>
            </a:pPr>
            <a:r>
              <a:t>Brignull (2023). Deceptive Patterns. https://www.deceptive.design/</a:t>
            </a:r>
          </a:p>
          <a:p>
            <a:pPr>
              <a:spcAft>
                <a:spcPts val="800"/>
              </a:spcAft>
              <a:defRPr sz="2100"/>
            </a:pPr>
            <a:r>
              <a:t>Gray et al. (2018). The Dark (Patterns) Side of UX Design. https://doi.org/10.1145/3173574.3174108</a:t>
            </a:r>
          </a:p>
          <a:p>
            <a:pPr>
              <a:spcAft>
                <a:spcPts val="800"/>
              </a:spcAft>
              <a:defRPr sz="2100"/>
            </a:pPr>
            <a:r>
              <a:t>Luguri &amp; Strahilevitz (2021). Shining a Light on Dark Patterns. https://doi.org/10.1093/jla/laaa006</a:t>
            </a:r>
          </a:p>
        </p:txBody>
      </p:sp>
      <p:sp>
        <p:nvSpPr>
          <p:cNvPr id="4" name="TextBox 3"/>
          <p:cNvSpPr txBox="1"/>
          <p:nvPr/>
        </p:nvSpPr>
        <p:spPr>
          <a:xfrm>
            <a:off x="548640" y="6400800"/>
            <a:ext cx="10972800" cy="228600"/>
          </a:xfrm>
          <a:prstGeom prst="rect">
            <a:avLst/>
          </a:prstGeom>
          <a:noFill/>
        </p:spPr>
        <p:txBody>
          <a:bodyPr wrap="none">
            <a:spAutoFit/>
          </a:bodyPr>
          <a:lstStyle/>
          <a:p>
            <a:pPr>
              <a:defRPr sz="900" b="0">
                <a:solidFill>
                  <a:srgbClr val="212529"/>
                </a:solidFill>
              </a:defRPr>
            </a:pPr>
            <a:r>
              <a:t>Group 20C - Dark Pattern Recognition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468880"/>
            <a:ext cx="10972800" cy="914400"/>
          </a:xfrm>
          <a:prstGeom prst="rect">
            <a:avLst/>
          </a:prstGeom>
          <a:noFill/>
        </p:spPr>
        <p:txBody>
          <a:bodyPr wrap="none">
            <a:spAutoFit/>
          </a:bodyPr>
          <a:lstStyle/>
          <a:p>
            <a:pPr algn="ctr">
              <a:defRPr sz="4400" b="1">
                <a:solidFill>
                  <a:srgbClr val="212529"/>
                </a:solidFill>
              </a:defRPr>
            </a:pP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