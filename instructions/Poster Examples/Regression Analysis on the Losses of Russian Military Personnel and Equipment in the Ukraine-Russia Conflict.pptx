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</p:sldIdLst>
  <p:sldSz cy="32918400" cx="585216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9AA0A6"/>
          </p15:clr>
        </p15:guide>
        <p15:guide id="2" pos="1843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84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Relationship Id="rId10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19667" y="685800"/>
            <a:ext cx="5418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389120" y="5387342"/>
            <a:ext cx="497433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7315200" y="17289781"/>
            <a:ext cx="43891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992883" y="8206748"/>
            <a:ext cx="504750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992883" y="22029428"/>
            <a:ext cx="504750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023359" y="8763000"/>
            <a:ext cx="248718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030981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030989" y="8069581"/>
            <a:ext cx="247575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29626563" y="8069581"/>
            <a:ext cx="248793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24879300" y="4739647"/>
            <a:ext cx="2962650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24879300" y="4739647"/>
            <a:ext cx="2962650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4389120" y="5387342"/>
            <a:ext cx="49743300" cy="114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4000"/>
              <a:buFont typeface="Arial"/>
              <a:buNone/>
              <a:defRPr sz="140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7315200" y="17289781"/>
            <a:ext cx="43891200" cy="7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2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992883" y="8206748"/>
            <a:ext cx="50475000" cy="13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Calibri"/>
              <a:buNone/>
              <a:defRPr sz="28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992883" y="22029428"/>
            <a:ext cx="504750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023359" y="8763000"/>
            <a:ext cx="248718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030983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030989" y="8069581"/>
            <a:ext cx="247575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29626563" y="8069581"/>
            <a:ext cx="24879300" cy="39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24879304" y="4739647"/>
            <a:ext cx="2962650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20015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1pPr>
            <a:lvl2pPr indent="-120015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2pPr>
            <a:lvl3pPr indent="-120015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3pPr>
            <a:lvl4pPr indent="-120015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4pPr>
            <a:lvl5pPr indent="-120015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5300"/>
              <a:buChar char="•"/>
              <a:defRPr sz="153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030983" y="2194560"/>
            <a:ext cx="188748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0"/>
              <a:buFont typeface="Calibri"/>
              <a:buNone/>
              <a:defRPr sz="153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24879304" y="4739647"/>
            <a:ext cx="2962650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030983" y="9875519"/>
            <a:ext cx="18874800" cy="18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1pPr>
            <a:lvl2pPr indent="-2286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2pPr>
            <a:lvl3pPr indent="-2286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3pPr>
            <a:lvl4pPr indent="-2286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4pPr>
            <a:lvl5pPr indent="-2286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Calibri"/>
              <a:buNone/>
              <a:defRPr sz="76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 2">
    <p:bg>
      <p:bgPr>
        <a:solidFill>
          <a:srgbClr val="00306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389120" y="10226041"/>
            <a:ext cx="49743300" cy="7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8778240" y="18653759"/>
            <a:ext cx="40965000" cy="8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888888"/>
              </a:buClr>
              <a:buSzPts val="15400"/>
              <a:buFont typeface="Calibri"/>
              <a:buNone/>
              <a:defRPr sz="15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bg>
      <p:bgPr>
        <a:solidFill>
          <a:srgbClr val="00306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idx="1" type="body"/>
          </p:nvPr>
        </p:nvSpPr>
        <p:spPr>
          <a:xfrm>
            <a:off x="2926079" y="7680962"/>
            <a:ext cx="52669500" cy="21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 3">
    <p:bg>
      <p:bgPr>
        <a:solidFill>
          <a:srgbClr val="00306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4622802" y="21153120"/>
            <a:ext cx="49743300" cy="6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0"/>
              <a:buFont typeface="Calibri"/>
              <a:buNone/>
              <a:defRPr b="1" sz="192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4622802" y="13952223"/>
            <a:ext cx="49743300" cy="72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88888"/>
              </a:buClr>
              <a:buSzPts val="9600"/>
              <a:buFont typeface="Calibri"/>
              <a:buNone/>
              <a:defRPr sz="96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 3">
    <p:bg>
      <p:bgPr>
        <a:solidFill>
          <a:srgbClr val="00306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2926079" y="7680962"/>
            <a:ext cx="25847100" cy="21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 3">
    <p:bg>
      <p:bgPr>
        <a:solidFill>
          <a:srgbClr val="00306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2926079" y="7368541"/>
            <a:ext cx="258573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1pPr>
            <a:lvl2pPr indent="-228600" lvl="1" marL="914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2pPr>
            <a:lvl3pPr indent="-228600" lvl="2" marL="1371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3pPr>
            <a:lvl4pPr indent="-228600" lvl="3" marL="1828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4pPr>
            <a:lvl5pPr indent="-228600" lvl="4" marL="22860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b="1" sz="115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29728163" y="7368541"/>
            <a:ext cx="258675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 3">
    <p:bg>
      <p:bgPr>
        <a:solidFill>
          <a:srgbClr val="00306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2926079" y="1318261"/>
            <a:ext cx="526695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1500"/>
              <a:buFont typeface="Arial"/>
              <a:buNone/>
              <a:defRPr sz="11500">
                <a:solidFill>
                  <a:srgbClr val="2C365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3">
    <p:bg>
      <p:bgPr>
        <a:solidFill>
          <a:srgbClr val="00306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 3">
    <p:bg>
      <p:bgPr>
        <a:solidFill>
          <a:srgbClr val="00306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/>
          <p:nvPr>
            <p:ph type="title"/>
          </p:nvPr>
        </p:nvSpPr>
        <p:spPr>
          <a:xfrm>
            <a:off x="2926084" y="1310639"/>
            <a:ext cx="19253100" cy="5577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27"/>
          <p:cNvSpPr txBox="1"/>
          <p:nvPr>
            <p:ph idx="1" type="body"/>
          </p:nvPr>
        </p:nvSpPr>
        <p:spPr>
          <a:xfrm>
            <a:off x="22880319" y="1310642"/>
            <a:ext cx="32715300" cy="280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1206500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1pPr>
            <a:lvl2pPr indent="-1206500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2pPr>
            <a:lvl3pPr indent="-1206500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•"/>
              <a:defRPr sz="15400"/>
            </a:lvl3pPr>
            <a:lvl4pPr indent="-1206500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–"/>
              <a:defRPr sz="15400"/>
            </a:lvl4pPr>
            <a:lvl5pPr indent="-1206500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000000"/>
              </a:buClr>
              <a:buSzPts val="15400"/>
              <a:buChar char="»"/>
              <a:defRPr sz="154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2" type="body"/>
          </p:nvPr>
        </p:nvSpPr>
        <p:spPr>
          <a:xfrm>
            <a:off x="2926084" y="6888481"/>
            <a:ext cx="19253100" cy="225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 3">
    <p:bg>
      <p:bgPr>
        <a:solidFill>
          <a:srgbClr val="00306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8"/>
          <p:cNvSpPr txBox="1"/>
          <p:nvPr>
            <p:ph type="title"/>
          </p:nvPr>
        </p:nvSpPr>
        <p:spPr>
          <a:xfrm>
            <a:off x="11470642" y="23042880"/>
            <a:ext cx="351129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219450" spcFirstLastPara="1" rIns="219450" wrap="square" tIns="2194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  <a:defRPr b="1" sz="96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4" name="Google Shape;114;p28"/>
          <p:cNvSpPr/>
          <p:nvPr>
            <p:ph idx="2" type="pic"/>
          </p:nvPr>
        </p:nvSpPr>
        <p:spPr>
          <a:xfrm>
            <a:off x="11470642" y="2941320"/>
            <a:ext cx="35112900" cy="197511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11470642" y="25763220"/>
            <a:ext cx="351129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219450" spcFirstLastPara="1" rIns="219450" wrap="square" tIns="21945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1pPr>
            <a:lvl2pPr indent="-2286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2pPr>
            <a:lvl3pPr indent="-2286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3pPr>
            <a:lvl4pPr indent="-2286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4pPr>
            <a:lvl5pPr indent="-2286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6700"/>
              <a:buFont typeface="Calibri"/>
              <a:buNone/>
              <a:defRPr sz="6700"/>
            </a:lvl5pPr>
            <a:lvl6pPr indent="-342900" lvl="5" marL="2743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54175330" y="30716475"/>
            <a:ext cx="142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219450" spcFirstLastPara="1" rIns="219450" wrap="square" tIns="2194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800"/>
              <a:buFont typeface="Calibri"/>
              <a:buNone/>
              <a:defRPr b="0" i="0" sz="5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>
            <p:ph type="title"/>
          </p:nvPr>
        </p:nvSpPr>
        <p:spPr>
          <a:xfrm>
            <a:off x="4023360" y="1752607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100"/>
              <a:buNone/>
              <a:defRPr/>
            </a:lvl9pPr>
          </a:lstStyle>
          <a:p/>
        </p:txBody>
      </p:sp>
      <p:sp>
        <p:nvSpPr>
          <p:cNvPr id="119" name="Google Shape;119;p29"/>
          <p:cNvSpPr txBox="1"/>
          <p:nvPr>
            <p:ph idx="1" type="body"/>
          </p:nvPr>
        </p:nvSpPr>
        <p:spPr>
          <a:xfrm>
            <a:off x="4023360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9"/>
          <p:cNvSpPr txBox="1"/>
          <p:nvPr>
            <p:ph idx="10" type="dt"/>
          </p:nvPr>
        </p:nvSpPr>
        <p:spPr>
          <a:xfrm>
            <a:off x="4023360" y="30510488"/>
            <a:ext cx="13167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9"/>
          <p:cNvSpPr txBox="1"/>
          <p:nvPr>
            <p:ph idx="11" type="ftr"/>
          </p:nvPr>
        </p:nvSpPr>
        <p:spPr>
          <a:xfrm>
            <a:off x="19385280" y="30510488"/>
            <a:ext cx="197511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2" type="sldNum"/>
          </p:nvPr>
        </p:nvSpPr>
        <p:spPr>
          <a:xfrm>
            <a:off x="41330881" y="30510488"/>
            <a:ext cx="13167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023359" y="1752606"/>
            <a:ext cx="50475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100"/>
              <a:buFont typeface="Calibri"/>
              <a:buNone/>
              <a:defRPr b="0" i="0" sz="2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023359" y="8763000"/>
            <a:ext cx="50475000" cy="208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107950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0" lvl="1" marL="914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1079500" lvl="2" marL="1371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79500" lvl="3" marL="1828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79500" lvl="4" marL="22860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79500" lvl="5" marL="2743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79500" lvl="6" marL="32004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79500" lvl="7" marL="36576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79500" lvl="8" marL="41148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3505130" y="30902919"/>
            <a:ext cx="9930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4.png"/><Relationship Id="rId10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04080" y="10403284"/>
            <a:ext cx="10901106" cy="753411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0"/>
          <p:cNvSpPr/>
          <p:nvPr/>
        </p:nvSpPr>
        <p:spPr>
          <a:xfrm>
            <a:off x="-193863" y="-59196"/>
            <a:ext cx="589092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0"/>
          <p:cNvSpPr/>
          <p:nvPr/>
        </p:nvSpPr>
        <p:spPr>
          <a:xfrm>
            <a:off x="-193863" y="32347063"/>
            <a:ext cx="589092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0"/>
          <p:cNvSpPr/>
          <p:nvPr/>
        </p:nvSpPr>
        <p:spPr>
          <a:xfrm rot="-5400000">
            <a:off x="-16344263" y="16040678"/>
            <a:ext cx="33255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0"/>
          <p:cNvSpPr/>
          <p:nvPr/>
        </p:nvSpPr>
        <p:spPr>
          <a:xfrm rot="-5400000">
            <a:off x="41580404" y="16040678"/>
            <a:ext cx="33255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0"/>
          <p:cNvSpPr/>
          <p:nvPr/>
        </p:nvSpPr>
        <p:spPr>
          <a:xfrm rot="-5400000">
            <a:off x="39569746" y="3617002"/>
            <a:ext cx="79830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44394120" y="1024128"/>
            <a:ext cx="129846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Highlights</a:t>
            </a:r>
            <a:endParaRPr i="0" sz="7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As the war rages further, the personnel and equipment losses are going to  increase per day.</a:t>
            </a:r>
            <a:endParaRPr i="0" sz="4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Comparing these costs with previous armed invasions carried out by Russia,  could give a rough estimate about we can conclude for how much further in  future this conflict could drag.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Although there are still many variable to consider, we can see that Russia is  still taking considerable losses as this conflict continues.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30"/>
          <p:cNvSpPr txBox="1"/>
          <p:nvPr/>
        </p:nvSpPr>
        <p:spPr>
          <a:xfrm>
            <a:off x="20317976" y="8897100"/>
            <a:ext cx="37060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Looking ahead to a period of 60 - 80 days into this conflict, Russian military forces are expected to lose over 25,000 personnel, over 1200 armored vehicles, and over 500 aircraft.</a:t>
            </a:r>
            <a:endParaRPr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30"/>
          <p:cNvSpPr txBox="1"/>
          <p:nvPr/>
        </p:nvSpPr>
        <p:spPr>
          <a:xfrm>
            <a:off x="39895272" y="25612344"/>
            <a:ext cx="174834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5100"/>
              <a:buFont typeface="Arial"/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Next Steps</a:t>
            </a:r>
            <a:endParaRPr b="1" i="0" sz="60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Gather information from more sources to perform a more accurate analysis.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Gather expense data on equipment and personnel loss to calculate financial  loss.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Compare to when Ukrainian cities were taken over and determine how much  more equipment, personnel, and financial loss it took to capture those cities.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20317968" y="25612344"/>
            <a:ext cx="178035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b="1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Although there are still many variable to consider, we can see that Russia is still taking considerable losses as this conflict continues.</a:t>
            </a:r>
            <a:endParaRPr b="1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30"/>
          <p:cNvSpPr/>
          <p:nvPr/>
        </p:nvSpPr>
        <p:spPr>
          <a:xfrm>
            <a:off x="0" y="7808976"/>
            <a:ext cx="58183800" cy="63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0"/>
          <p:cNvSpPr txBox="1"/>
          <p:nvPr>
            <p:ph type="title"/>
          </p:nvPr>
        </p:nvSpPr>
        <p:spPr>
          <a:xfrm>
            <a:off x="1643275" y="1622575"/>
            <a:ext cx="40699800" cy="4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12040"/>
              <a:buFont typeface="Arial"/>
              <a:buNone/>
            </a:pPr>
            <a:r>
              <a:rPr b="1" lang="en-US" sz="12000">
                <a:latin typeface="Roboto"/>
                <a:ea typeface="Roboto"/>
                <a:cs typeface="Roboto"/>
                <a:sym typeface="Roboto"/>
              </a:rPr>
              <a:t>Regression Analysis on the Losses of Russian Military Personnel &amp; Equipment in the Ukraine-Russia Conflict</a:t>
            </a:r>
            <a:endParaRPr b="1" sz="12000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" name="Google Shape;139;p30"/>
          <p:cNvCxnSpPr/>
          <p:nvPr/>
        </p:nvCxnSpPr>
        <p:spPr>
          <a:xfrm flipH="1" rot="10800000">
            <a:off x="2310860" y="5844983"/>
            <a:ext cx="34731000" cy="76500"/>
          </a:xfrm>
          <a:prstGeom prst="straightConnector1">
            <a:avLst/>
          </a:prstGeom>
          <a:noFill/>
          <a:ln cap="flat" cmpd="sng" w="25400">
            <a:solidFill>
              <a:srgbClr val="2C365E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40" name="Google Shape;140;p30"/>
          <p:cNvSpPr txBox="1"/>
          <p:nvPr/>
        </p:nvSpPr>
        <p:spPr>
          <a:xfrm>
            <a:off x="1188720" y="18498312"/>
            <a:ext cx="17483400" cy="59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Dat</a:t>
            </a: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2022 Ukraine Russia War</a:t>
            </a:r>
            <a:r>
              <a:rPr lang="en-US" sz="4500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 - </a:t>
            </a: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Kaggle.com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Daily updates of Russian personnel and equipment loss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Data collected by Petro on Kaggle.com: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■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Data Scientist, PhD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■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Lviv, Ukraine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Main source of data: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Armed Forces of Ukraine and Ministry of Defense of Ukraine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30"/>
          <p:cNvSpPr txBox="1"/>
          <p:nvPr/>
        </p:nvSpPr>
        <p:spPr>
          <a:xfrm>
            <a:off x="1188720" y="25612344"/>
            <a:ext cx="8741700" cy="6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Model</a:t>
            </a:r>
            <a:endParaRPr i="0" sz="36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●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Linear regression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Supervised ML algorithm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Roboto"/>
              <a:buChar char="○"/>
            </a:pPr>
            <a:r>
              <a:rPr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Uses historical data to predict future numerical values</a:t>
            </a:r>
            <a:endParaRPr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30"/>
          <p:cNvSpPr txBox="1"/>
          <p:nvPr/>
        </p:nvSpPr>
        <p:spPr>
          <a:xfrm>
            <a:off x="1188720" y="8897112"/>
            <a:ext cx="874170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ct val="96250"/>
              <a:buFont typeface="Arial"/>
              <a:buNone/>
            </a:pPr>
            <a:r>
              <a:rPr b="1" i="0" lang="en-US" sz="60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endParaRPr i="0" sz="6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90379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365E"/>
              </a:buClr>
              <a:buSzPct val="100000"/>
              <a:buFont typeface="Roboto"/>
              <a:buChar char="●"/>
            </a:pPr>
            <a:r>
              <a:rPr i="0" lang="en-US" sz="485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On 24 February 2022, Russian President Vladimir  Putin ordered an invasion of Ukraine by Russian  armed forces previously concentrated along the  border.</a:t>
            </a:r>
            <a:endParaRPr i="0" sz="485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9037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ct val="100000"/>
              <a:buFont typeface="Roboto"/>
              <a:buChar char="●"/>
            </a:pPr>
            <a:r>
              <a:rPr i="0" lang="en-US" sz="485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The invasion included attacks across the Belarus Ukraine border and was followed by targeted airstrikes on military buildings in Ukraine.</a:t>
            </a:r>
            <a:endParaRPr i="0" sz="485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9037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ct val="100000"/>
              <a:buFont typeface="Roboto"/>
              <a:buChar char="●"/>
            </a:pPr>
            <a:r>
              <a:rPr i="0" lang="en-US" sz="485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Correct prediction of future losses with regression analysis could provide insight on the costs involved in continuation of armed conflict.</a:t>
            </a:r>
            <a:endParaRPr i="0" sz="485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30"/>
          <p:cNvSpPr/>
          <p:nvPr/>
        </p:nvSpPr>
        <p:spPr>
          <a:xfrm rot="-5400000">
            <a:off x="7135309" y="20015145"/>
            <a:ext cx="24813300" cy="74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09986" y="25612344"/>
            <a:ext cx="6782562" cy="6309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30425" y="9378762"/>
            <a:ext cx="8741664" cy="8180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884974" y="18048204"/>
            <a:ext cx="10191614" cy="7534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55208" y="10403284"/>
            <a:ext cx="10546341" cy="7534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12995" y="18048204"/>
            <a:ext cx="10952221" cy="753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699642" y="18048204"/>
            <a:ext cx="10614778" cy="7534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068340" y="10410187"/>
            <a:ext cx="10546331" cy="752031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0"/>
          <p:cNvSpPr txBox="1"/>
          <p:nvPr/>
        </p:nvSpPr>
        <p:spPr>
          <a:xfrm>
            <a:off x="2560320" y="6293350"/>
            <a:ext cx="388710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65E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Author 1</a:t>
            </a:r>
            <a:r>
              <a:rPr b="1" lang="en-US" sz="4500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1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 Author 2</a:t>
            </a:r>
            <a:r>
              <a:rPr b="1" lang="en-US" sz="4500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1" i="0" lang="en-US" sz="4500" u="none" cap="none" strike="noStrike">
                <a:solidFill>
                  <a:srgbClr val="2C365E"/>
                </a:solidFill>
                <a:latin typeface="Roboto"/>
                <a:ea typeface="Roboto"/>
                <a:cs typeface="Roboto"/>
                <a:sym typeface="Roboto"/>
              </a:rPr>
              <a:t> Author 3</a:t>
            </a:r>
            <a:endParaRPr b="1" i="0" sz="4500" u="none" cap="none" strike="noStrike">
              <a:solidFill>
                <a:srgbClr val="2C365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