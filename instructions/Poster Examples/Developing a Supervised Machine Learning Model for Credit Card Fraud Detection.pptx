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</p:sldIdLst>
  <p:sldSz cy="32918400" cx="585216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9AA0A6"/>
          </p15:clr>
        </p15:guide>
        <p15:guide id="2" pos="1843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843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Relationship Id="rId10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19667" y="685800"/>
            <a:ext cx="5418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389120" y="5387342"/>
            <a:ext cx="49743300" cy="114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4000"/>
              <a:buFont typeface="Arial"/>
              <a:buNone/>
              <a:defRPr sz="140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7315200" y="17289781"/>
            <a:ext cx="43891200" cy="7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023359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992883" y="8206748"/>
            <a:ext cx="50475000" cy="13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992883" y="22029428"/>
            <a:ext cx="504750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023359" y="8763000"/>
            <a:ext cx="248718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030981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030989" y="8069581"/>
            <a:ext cx="247575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29626563" y="8069581"/>
            <a:ext cx="248793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24879300" y="4739647"/>
            <a:ext cx="2962650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20015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1pPr>
            <a:lvl2pPr indent="-120015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2pPr>
            <a:lvl3pPr indent="-120015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3pPr>
            <a:lvl4pPr indent="-120015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4pPr>
            <a:lvl5pPr indent="-120015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24879300" y="4739647"/>
            <a:ext cx="2962650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4389120" y="5387342"/>
            <a:ext cx="49743300" cy="114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4000"/>
              <a:buFont typeface="Arial"/>
              <a:buNone/>
              <a:defRPr sz="140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7315200" y="17289781"/>
            <a:ext cx="43891200" cy="7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4023359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992883" y="8206748"/>
            <a:ext cx="50475000" cy="13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992883" y="22029428"/>
            <a:ext cx="504750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 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023359" y="8763000"/>
            <a:ext cx="248718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 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030983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030989" y="8069581"/>
            <a:ext cx="247575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29626563" y="8069581"/>
            <a:ext cx="248793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 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24879304" y="4739647"/>
            <a:ext cx="2962650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20015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1pPr>
            <a:lvl2pPr indent="-120015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2pPr>
            <a:lvl3pPr indent="-120015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3pPr>
            <a:lvl4pPr indent="-120015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4pPr>
            <a:lvl5pPr indent="-120015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 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19"/>
          <p:cNvSpPr/>
          <p:nvPr>
            <p:ph idx="2" type="pic"/>
          </p:nvPr>
        </p:nvSpPr>
        <p:spPr>
          <a:xfrm>
            <a:off x="24879304" y="4739647"/>
            <a:ext cx="2962650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 2">
    <p:bg>
      <p:bgPr>
        <a:solidFill>
          <a:srgbClr val="00306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4389120" y="10226041"/>
            <a:ext cx="49743300" cy="7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8778240" y="18653759"/>
            <a:ext cx="40965000" cy="8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2">
    <p:bg>
      <p:bgPr>
        <a:solidFill>
          <a:srgbClr val="00306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" type="body"/>
          </p:nvPr>
        </p:nvSpPr>
        <p:spPr>
          <a:xfrm>
            <a:off x="2926079" y="7680962"/>
            <a:ext cx="52669500" cy="21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1206500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1pPr>
            <a:lvl2pPr indent="-1206500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2pPr>
            <a:lvl3pPr indent="-1206500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3pPr>
            <a:lvl4pPr indent="-1206500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4pPr>
            <a:lvl5pPr indent="-1206500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»"/>
              <a:defRPr sz="154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3">
    <p:bg>
      <p:bgPr>
        <a:solidFill>
          <a:srgbClr val="00306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4622802" y="21153120"/>
            <a:ext cx="49743300" cy="6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0"/>
              <a:buFont typeface="Calibri"/>
              <a:buNone/>
              <a:defRPr b="1" sz="192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4622802" y="13952223"/>
            <a:ext cx="497433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 3">
    <p:bg>
      <p:bgPr>
        <a:solidFill>
          <a:srgbClr val="00306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2926079" y="7680962"/>
            <a:ext cx="25847100" cy="21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 3">
    <p:bg>
      <p:bgPr>
        <a:solidFill>
          <a:srgbClr val="00306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2926079" y="7368541"/>
            <a:ext cx="258573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29728163" y="7368541"/>
            <a:ext cx="258675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3">
    <p:bg>
      <p:bgPr>
        <a:solidFill>
          <a:srgbClr val="00306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3">
    <p:bg>
      <p:bgPr>
        <a:solidFill>
          <a:srgbClr val="00306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 3">
    <p:bg>
      <p:bgPr>
        <a:solidFill>
          <a:srgbClr val="00306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type="title"/>
          </p:nvPr>
        </p:nvSpPr>
        <p:spPr>
          <a:xfrm>
            <a:off x="2926084" y="1310639"/>
            <a:ext cx="19253100" cy="55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Calibri"/>
              <a:buNone/>
              <a:defRPr b="1" sz="9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22880319" y="1310642"/>
            <a:ext cx="32715300" cy="28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1206500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1pPr>
            <a:lvl2pPr indent="-1206500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2pPr>
            <a:lvl3pPr indent="-1206500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3pPr>
            <a:lvl4pPr indent="-1206500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4pPr>
            <a:lvl5pPr indent="-1206500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»"/>
              <a:defRPr sz="154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2" type="body"/>
          </p:nvPr>
        </p:nvSpPr>
        <p:spPr>
          <a:xfrm>
            <a:off x="2926084" y="6888481"/>
            <a:ext cx="19253100" cy="225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 3">
    <p:bg>
      <p:bgPr>
        <a:solidFill>
          <a:srgbClr val="00306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8"/>
          <p:cNvSpPr txBox="1"/>
          <p:nvPr>
            <p:ph type="title"/>
          </p:nvPr>
        </p:nvSpPr>
        <p:spPr>
          <a:xfrm>
            <a:off x="11470642" y="23042880"/>
            <a:ext cx="351129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Calibri"/>
              <a:buNone/>
              <a:defRPr b="1" sz="9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4" name="Google Shape;114;p28"/>
          <p:cNvSpPr/>
          <p:nvPr>
            <p:ph idx="2" type="pic"/>
          </p:nvPr>
        </p:nvSpPr>
        <p:spPr>
          <a:xfrm>
            <a:off x="11470642" y="2941320"/>
            <a:ext cx="35112900" cy="1975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8"/>
          <p:cNvSpPr txBox="1"/>
          <p:nvPr>
            <p:ph idx="1" type="body"/>
          </p:nvPr>
        </p:nvSpPr>
        <p:spPr>
          <a:xfrm>
            <a:off x="11470642" y="25763220"/>
            <a:ext cx="351129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1pPr>
            <a:lvl2pPr indent="-2286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2pPr>
            <a:lvl3pPr indent="-2286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3pPr>
            <a:lvl4pPr indent="-2286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4pPr>
            <a:lvl5pPr indent="-2286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>
            <p:ph type="title"/>
          </p:nvPr>
        </p:nvSpPr>
        <p:spPr>
          <a:xfrm>
            <a:off x="4023360" y="1752607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9pPr>
          </a:lstStyle>
          <a:p/>
        </p:txBody>
      </p:sp>
      <p:sp>
        <p:nvSpPr>
          <p:cNvPr id="119" name="Google Shape;119;p29"/>
          <p:cNvSpPr txBox="1"/>
          <p:nvPr>
            <p:ph idx="1" type="body"/>
          </p:nvPr>
        </p:nvSpPr>
        <p:spPr>
          <a:xfrm>
            <a:off x="4023360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9"/>
          <p:cNvSpPr txBox="1"/>
          <p:nvPr>
            <p:ph idx="10" type="dt"/>
          </p:nvPr>
        </p:nvSpPr>
        <p:spPr>
          <a:xfrm>
            <a:off x="4023360" y="30510488"/>
            <a:ext cx="13167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9"/>
          <p:cNvSpPr txBox="1"/>
          <p:nvPr>
            <p:ph idx="11" type="ftr"/>
          </p:nvPr>
        </p:nvSpPr>
        <p:spPr>
          <a:xfrm>
            <a:off x="19385280" y="30510488"/>
            <a:ext cx="197511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9"/>
          <p:cNvSpPr txBox="1"/>
          <p:nvPr>
            <p:ph idx="12" type="sldNum"/>
          </p:nvPr>
        </p:nvSpPr>
        <p:spPr>
          <a:xfrm>
            <a:off x="41330881" y="30510488"/>
            <a:ext cx="13167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023359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079500" lvl="0" marL="457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0" lvl="1" marL="9144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79500" lvl="2" marL="13716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79500" lvl="3" marL="18288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79500" lvl="4" marL="22860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79500" lvl="5" marL="2743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79500" lvl="6" marL="32004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79500" lvl="7" marL="36576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79500" lvl="8" marL="41148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/>
          <p:nvPr/>
        </p:nvSpPr>
        <p:spPr>
          <a:xfrm>
            <a:off x="0" y="-59200"/>
            <a:ext cx="58521600" cy="63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0"/>
          <p:cNvSpPr/>
          <p:nvPr/>
        </p:nvSpPr>
        <p:spPr>
          <a:xfrm>
            <a:off x="-193863" y="32347063"/>
            <a:ext cx="58909200" cy="63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0"/>
          <p:cNvSpPr/>
          <p:nvPr/>
        </p:nvSpPr>
        <p:spPr>
          <a:xfrm rot="-5400000">
            <a:off x="-16344263" y="16040678"/>
            <a:ext cx="332553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0"/>
          <p:cNvSpPr/>
          <p:nvPr/>
        </p:nvSpPr>
        <p:spPr>
          <a:xfrm rot="-5400000">
            <a:off x="41580404" y="16040678"/>
            <a:ext cx="332553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0"/>
          <p:cNvSpPr/>
          <p:nvPr/>
        </p:nvSpPr>
        <p:spPr>
          <a:xfrm rot="-5400000">
            <a:off x="39569746" y="3617002"/>
            <a:ext cx="79830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0"/>
          <p:cNvSpPr txBox="1"/>
          <p:nvPr/>
        </p:nvSpPr>
        <p:spPr>
          <a:xfrm>
            <a:off x="44394120" y="1024128"/>
            <a:ext cx="12984600" cy="6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Highlights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Global card fraud losses amounted to $27.85 billion in 2018, which was an increase of 18.4% from the previous year. (Harrison, 2021)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decision tree is created by analyzing historical data of both fraudulent and non-fraudulent transactions.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average accuracy score of 0.998 indicates the model is highly accurate.</a:t>
            </a:r>
            <a:endParaRPr b="1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30"/>
          <p:cNvSpPr txBox="1"/>
          <p:nvPr/>
        </p:nvSpPr>
        <p:spPr>
          <a:xfrm>
            <a:off x="39639240" y="22514700"/>
            <a:ext cx="17666100" cy="30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average accuracy score of 0.998 indicates the model is highly accurate.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F-Score of 0.91.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30"/>
          <p:cNvSpPr/>
          <p:nvPr/>
        </p:nvSpPr>
        <p:spPr>
          <a:xfrm>
            <a:off x="0" y="7808976"/>
            <a:ext cx="58183800" cy="63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0"/>
          <p:cNvSpPr txBox="1"/>
          <p:nvPr>
            <p:ph type="title"/>
          </p:nvPr>
        </p:nvSpPr>
        <p:spPr>
          <a:xfrm>
            <a:off x="1645920" y="1622575"/>
            <a:ext cx="40699800" cy="4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Developing a Supervised Machine Learning Model for Credit Card Fraud Detection</a:t>
            </a:r>
            <a:endParaRPr b="1" sz="1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" name="Google Shape;136;p30"/>
          <p:cNvCxnSpPr/>
          <p:nvPr/>
        </p:nvCxnSpPr>
        <p:spPr>
          <a:xfrm flipH="1" rot="10800000">
            <a:off x="2310860" y="5844983"/>
            <a:ext cx="34731000" cy="76500"/>
          </a:xfrm>
          <a:prstGeom prst="straightConnector1">
            <a:avLst/>
          </a:prstGeom>
          <a:noFill/>
          <a:ln cap="flat" cmpd="sng" w="25400">
            <a:solidFill>
              <a:srgbClr val="ECAE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37" name="Google Shape;137;p30"/>
          <p:cNvSpPr txBox="1"/>
          <p:nvPr/>
        </p:nvSpPr>
        <p:spPr>
          <a:xfrm>
            <a:off x="2560320" y="6293350"/>
            <a:ext cx="38871000" cy="1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Author 1</a:t>
            </a:r>
            <a:r>
              <a:rPr b="1" lang="en-US" sz="4500"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b="1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Author 2</a:t>
            </a:r>
            <a:r>
              <a:rPr b="1" lang="en-US" sz="4500"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b="1"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Author 3</a:t>
            </a:r>
            <a:endParaRPr b="1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30"/>
          <p:cNvSpPr txBox="1"/>
          <p:nvPr/>
        </p:nvSpPr>
        <p:spPr>
          <a:xfrm>
            <a:off x="1188725" y="18498312"/>
            <a:ext cx="17483400" cy="73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endParaRPr i="0" sz="6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the model we selected Dermisfit Fraud transactions dataset from Kaggle</a:t>
            </a:r>
            <a:r>
              <a:rPr lang="en-US" sz="4500">
                <a:latin typeface="Roboto"/>
                <a:ea typeface="Roboto"/>
                <a:cs typeface="Roboto"/>
                <a:sym typeface="Roboto"/>
              </a:rPr>
              <a:t>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This public dataset provides a large and diverse collection of transactions that have been flagged as either fraudulent or non-fraudulent. The dataset has been used by researchers and practitioners who are interested in developing fraud detection models.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data set is fictional and is trying to simulate real-life details. contains 1,048,576 records in 23 columns.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30"/>
          <p:cNvSpPr txBox="1"/>
          <p:nvPr/>
        </p:nvSpPr>
        <p:spPr>
          <a:xfrm>
            <a:off x="20317968" y="8897100"/>
            <a:ext cx="17666100" cy="7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i="0" sz="3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decision tree is a type of supervised learning algorithm that is used for both regression and classification tasks and uses a tree-like structure to represent decisions and their consequences. (Breiman et al. 10)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Model is created by analyzing historical data of both fraudulent and non-fraudulent transactions.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algorithm uses this model to predict whether a new transaction is likely to be fraud or not.</a:t>
            </a:r>
            <a:endParaRPr i="0" sz="3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30"/>
          <p:cNvSpPr txBox="1"/>
          <p:nvPr/>
        </p:nvSpPr>
        <p:spPr>
          <a:xfrm>
            <a:off x="1188725" y="8897075"/>
            <a:ext cx="174834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775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Background</a:t>
            </a:r>
            <a:endParaRPr i="0" sz="6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Credit card fraud is a serious issueaffecting financial institutions and consumers worldwide.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Global card fraud losses amounted to $27.85 billion in 2018, which was an increase of 18.4% from the previous year (Harrison, 2021).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 2019, consumers reported losing over $1.9 billion to fraud (FTC, 2020).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Financial institutions are also impacted,with billions of dollars lost globally each year.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consequences of credit card fraud can be severe, leading to financial losses and damage to credit scores.</a:t>
            </a:r>
            <a:endParaRPr i="0" sz="4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30"/>
          <p:cNvSpPr/>
          <p:nvPr/>
        </p:nvSpPr>
        <p:spPr>
          <a:xfrm rot="-5400000">
            <a:off x="7079204" y="20281870"/>
            <a:ext cx="248133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0"/>
          <p:cNvSpPr/>
          <p:nvPr/>
        </p:nvSpPr>
        <p:spPr>
          <a:xfrm rot="-5400000">
            <a:off x="26404715" y="19956395"/>
            <a:ext cx="248133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0"/>
          <p:cNvSpPr txBox="1"/>
          <p:nvPr/>
        </p:nvSpPr>
        <p:spPr>
          <a:xfrm>
            <a:off x="39639240" y="8897112"/>
            <a:ext cx="176661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2C365E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  <a:endParaRPr i="0" sz="3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30"/>
          <p:cNvSpPr txBox="1"/>
          <p:nvPr/>
        </p:nvSpPr>
        <p:spPr>
          <a:xfrm>
            <a:off x="39639240" y="20747736"/>
            <a:ext cx="17666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normalized entropy value of 0.036 indicates the model is relatively consistent and stable in its performance.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Arial"/>
              <a:buNone/>
            </a:pPr>
            <a:r>
              <a:t/>
            </a:r>
            <a:endParaRPr i="0" sz="4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30"/>
          <p:cNvSpPr txBox="1"/>
          <p:nvPr/>
        </p:nvSpPr>
        <p:spPr>
          <a:xfrm>
            <a:off x="20317968" y="16276320"/>
            <a:ext cx="17666100" cy="53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Training</a:t>
            </a:r>
            <a:endParaRPr i="0" sz="3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Code splits the dataset into predictor variables (X) and the target variable (y) where 'is_fraud' is the target variable.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Next, the code trains the decision tree model with 80% of the data using the 'entropy' criterion (Pedregosa et al. 2011).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Finally, the code prints the normalized entropy value, the average accuracy score, the confusion matrix, and the classification report.</a:t>
            </a:r>
            <a:endParaRPr i="0" sz="3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15505" y="24030432"/>
            <a:ext cx="17666209" cy="7857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39240" y="10198913"/>
            <a:ext cx="17666208" cy="1020774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0"/>
          <p:cNvSpPr txBox="1"/>
          <p:nvPr/>
        </p:nvSpPr>
        <p:spPr>
          <a:xfrm>
            <a:off x="39639240" y="25612344"/>
            <a:ext cx="17666100" cy="6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b="1" lang="en-US" sz="6000"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b="1" i="0" lang="en-US" sz="6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teps</a:t>
            </a:r>
            <a:endParaRPr b="1" i="0" sz="6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Work with actual credit card transaction data and evaluate the model's performance over</a:t>
            </a:r>
            <a:r>
              <a:rPr lang="en-US" sz="45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-US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different time periods.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2945" y="27778850"/>
            <a:ext cx="17483329" cy="41427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30"/>
          <p:cNvCxnSpPr/>
          <p:nvPr/>
        </p:nvCxnSpPr>
        <p:spPr>
          <a:xfrm flipH="1" rot="10800000">
            <a:off x="2310860" y="5844983"/>
            <a:ext cx="34731000" cy="76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