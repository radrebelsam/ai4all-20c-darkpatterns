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</p:sldIdLst>
  <p:sldSz cy="47548800" cx="329184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976">
          <p15:clr>
            <a:srgbClr val="9AA0A6"/>
          </p15:clr>
        </p15:guide>
        <p15:guide id="2" pos="1036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976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Relationship Id="rId10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73900" y="685800"/>
            <a:ext cx="211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/>
          <p:nvPr>
            <p:ph idx="2" type="sldImg"/>
          </p:nvPr>
        </p:nvSpPr>
        <p:spPr>
          <a:xfrm>
            <a:off x="2242052" y="685800"/>
            <a:ext cx="2373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468880" y="7781717"/>
            <a:ext cx="27980700" cy="165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4000"/>
              <a:buFont typeface="Arial"/>
              <a:buNone/>
              <a:defRPr sz="140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114800" y="24974129"/>
            <a:ext cx="24688800" cy="114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263139" y="2531542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63139" y="12657667"/>
            <a:ext cx="28392300" cy="30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2245997" y="11854191"/>
            <a:ext cx="28392300" cy="197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245997" y="31820285"/>
            <a:ext cx="28392300" cy="10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2263139" y="2531542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2263139" y="12657667"/>
            <a:ext cx="13990500" cy="30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267427" y="2531542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2267431" y="11656062"/>
            <a:ext cx="13926000" cy="57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16664942" y="11656062"/>
            <a:ext cx="13994700" cy="57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2263139" y="2531542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2267428" y="3169920"/>
            <a:ext cx="10617000" cy="1109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13994606" y="6846156"/>
            <a:ext cx="16665000" cy="33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20015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1pPr>
            <a:lvl2pPr indent="-120015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2pPr>
            <a:lvl3pPr indent="-120015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3pPr>
            <a:lvl4pPr indent="-120015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4pPr>
            <a:lvl5pPr indent="-120015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2267428" y="14264638"/>
            <a:ext cx="10617000" cy="264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2267428" y="3169920"/>
            <a:ext cx="10617000" cy="1109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13994606" y="6846156"/>
            <a:ext cx="16665000" cy="337905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2267428" y="14264638"/>
            <a:ext cx="10617000" cy="264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2468880" y="7781717"/>
            <a:ext cx="27980700" cy="165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4000"/>
              <a:buFont typeface="Arial"/>
              <a:buNone/>
              <a:defRPr sz="140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114800" y="24974129"/>
            <a:ext cx="24688800" cy="114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2263139" y="2531542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2263139" y="12657667"/>
            <a:ext cx="28392300" cy="30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245997" y="11854191"/>
            <a:ext cx="28392300" cy="197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2245997" y="31820285"/>
            <a:ext cx="28392300" cy="10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 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2263139" y="2531542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2263139" y="12657667"/>
            <a:ext cx="13990500" cy="30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 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2267428" y="2531542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2267431" y="11656062"/>
            <a:ext cx="13926000" cy="57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16664942" y="11656062"/>
            <a:ext cx="13994700" cy="57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63139" y="2531542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2267428" y="3169920"/>
            <a:ext cx="10617000" cy="1109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13994608" y="6846156"/>
            <a:ext cx="16665000" cy="33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20015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1pPr>
            <a:lvl2pPr indent="-120015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2pPr>
            <a:lvl3pPr indent="-120015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3pPr>
            <a:lvl4pPr indent="-120015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4pPr>
            <a:lvl5pPr indent="-120015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2267428" y="14264638"/>
            <a:ext cx="10617000" cy="264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 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2267428" y="3169920"/>
            <a:ext cx="10617000" cy="1109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19"/>
          <p:cNvSpPr/>
          <p:nvPr>
            <p:ph idx="2" type="pic"/>
          </p:nvPr>
        </p:nvSpPr>
        <p:spPr>
          <a:xfrm>
            <a:off x="13994608" y="6846156"/>
            <a:ext cx="16665000" cy="33790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2267428" y="14264638"/>
            <a:ext cx="10617000" cy="264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 2">
    <p:bg>
      <p:bgPr>
        <a:solidFill>
          <a:srgbClr val="00306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2468880" y="14770948"/>
            <a:ext cx="27980700" cy="101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4937760" y="26944319"/>
            <a:ext cx="23042700" cy="12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30473623" y="44368242"/>
            <a:ext cx="7989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bg>
      <p:bgPr>
        <a:solidFill>
          <a:srgbClr val="00306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1645919" y="1904154"/>
            <a:ext cx="29626500" cy="79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" type="body"/>
          </p:nvPr>
        </p:nvSpPr>
        <p:spPr>
          <a:xfrm>
            <a:off x="1645919" y="11094722"/>
            <a:ext cx="29626500" cy="3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1206500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1pPr>
            <a:lvl2pPr indent="-1206500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2pPr>
            <a:lvl3pPr indent="-1206500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3pPr>
            <a:lvl4pPr indent="-1206500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4pPr>
            <a:lvl5pPr indent="-1206500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»"/>
              <a:defRPr sz="154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30473623" y="44368242"/>
            <a:ext cx="7989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3">
    <p:bg>
      <p:bgPr>
        <a:solidFill>
          <a:srgbClr val="00306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2600326" y="30554507"/>
            <a:ext cx="27980700" cy="9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0"/>
              <a:buFont typeface="Calibri"/>
              <a:buNone/>
              <a:defRPr b="1" sz="192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2600326" y="20153212"/>
            <a:ext cx="27980700" cy="104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30473623" y="44368242"/>
            <a:ext cx="7989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 3">
    <p:bg>
      <p:bgPr>
        <a:solidFill>
          <a:srgbClr val="00306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title"/>
          </p:nvPr>
        </p:nvSpPr>
        <p:spPr>
          <a:xfrm>
            <a:off x="1645919" y="1904154"/>
            <a:ext cx="29626500" cy="79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1645919" y="11094722"/>
            <a:ext cx="14538900" cy="3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30473623" y="44368242"/>
            <a:ext cx="7989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 3">
    <p:bg>
      <p:bgPr>
        <a:solidFill>
          <a:srgbClr val="00306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1645919" y="1904154"/>
            <a:ext cx="29626500" cy="79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1645919" y="10643448"/>
            <a:ext cx="14544600" cy="44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16722092" y="10643448"/>
            <a:ext cx="14550600" cy="44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30473623" y="44368242"/>
            <a:ext cx="7989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3">
    <p:bg>
      <p:bgPr>
        <a:solidFill>
          <a:srgbClr val="00306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1645919" y="1904154"/>
            <a:ext cx="29626500" cy="79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30473623" y="44368242"/>
            <a:ext cx="7989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3">
    <p:bg>
      <p:bgPr>
        <a:solidFill>
          <a:srgbClr val="00306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30473623" y="44368242"/>
            <a:ext cx="7989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 3">
    <p:bg>
      <p:bgPr>
        <a:solidFill>
          <a:srgbClr val="00306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1645922" y="1893146"/>
            <a:ext cx="10830000" cy="80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  <a:defRPr b="1" sz="9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12870179" y="1893150"/>
            <a:ext cx="18402300" cy="40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1206500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1pPr>
            <a:lvl2pPr indent="-1206500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2pPr>
            <a:lvl3pPr indent="-1206500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3pPr>
            <a:lvl4pPr indent="-1206500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4pPr>
            <a:lvl5pPr indent="-1206500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»"/>
              <a:defRPr sz="154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2" type="body"/>
          </p:nvPr>
        </p:nvSpPr>
        <p:spPr>
          <a:xfrm>
            <a:off x="1645922" y="9950029"/>
            <a:ext cx="10830000" cy="32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30473623" y="44368242"/>
            <a:ext cx="7989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 3">
    <p:bg>
      <p:bgPr>
        <a:solidFill>
          <a:srgbClr val="00306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/>
          <p:nvPr>
            <p:ph type="title"/>
          </p:nvPr>
        </p:nvSpPr>
        <p:spPr>
          <a:xfrm>
            <a:off x="6452236" y="33284160"/>
            <a:ext cx="19751100" cy="39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  <a:defRPr b="1" sz="9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4" name="Google Shape;114;p28"/>
          <p:cNvSpPr/>
          <p:nvPr>
            <p:ph idx="2" type="pic"/>
          </p:nvPr>
        </p:nvSpPr>
        <p:spPr>
          <a:xfrm>
            <a:off x="6452236" y="4248573"/>
            <a:ext cx="19751100" cy="285294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8"/>
          <p:cNvSpPr txBox="1"/>
          <p:nvPr>
            <p:ph idx="1" type="body"/>
          </p:nvPr>
        </p:nvSpPr>
        <p:spPr>
          <a:xfrm>
            <a:off x="6452236" y="37213540"/>
            <a:ext cx="19751100" cy="55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1pPr>
            <a:lvl2pPr indent="-2286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2pPr>
            <a:lvl3pPr indent="-2286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3pPr>
            <a:lvl4pPr indent="-2286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4pPr>
            <a:lvl5pPr indent="-2286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30473623" y="44368242"/>
            <a:ext cx="7989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2263140" y="2531543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" type="body"/>
          </p:nvPr>
        </p:nvSpPr>
        <p:spPr>
          <a:xfrm>
            <a:off x="2263140" y="12657667"/>
            <a:ext cx="28392300" cy="30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9"/>
          <p:cNvSpPr txBox="1"/>
          <p:nvPr>
            <p:ph idx="10" type="dt"/>
          </p:nvPr>
        </p:nvSpPr>
        <p:spPr>
          <a:xfrm>
            <a:off x="2263140" y="44070704"/>
            <a:ext cx="7406700" cy="25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9"/>
          <p:cNvSpPr txBox="1"/>
          <p:nvPr>
            <p:ph idx="11" type="ftr"/>
          </p:nvPr>
        </p:nvSpPr>
        <p:spPr>
          <a:xfrm>
            <a:off x="10904220" y="44070704"/>
            <a:ext cx="11109900" cy="25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23248621" y="44070704"/>
            <a:ext cx="7406700" cy="25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63139" y="2531542"/>
            <a:ext cx="28392300" cy="9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63139" y="12657667"/>
            <a:ext cx="28392300" cy="30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079500" lvl="0" marL="457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0" lvl="1" marL="9144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79500" lvl="2" marL="13716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79500" lvl="3" marL="18288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79500" lvl="4" marL="22860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79500" lvl="5" marL="2743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79500" lvl="6" marL="32004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79500" lvl="7" marL="36576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79500" lvl="8" marL="41148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096635" y="44637550"/>
            <a:ext cx="5586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hyperlink" Target="https://colab.research.google.com/drive/1MksRqranUA30fIxjxWjIIsarvbnoeq_E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B4E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idx="4294967295" type="ctrTitle"/>
          </p:nvPr>
        </p:nvSpPr>
        <p:spPr>
          <a:xfrm>
            <a:off x="1280160" y="1753362"/>
            <a:ext cx="19659600" cy="4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Instacart Order Clustering</a:t>
            </a:r>
            <a:endParaRPr b="1" i="0" sz="1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2040"/>
              <a:buFont typeface="Arial"/>
              <a:buNone/>
            </a:pPr>
            <a:r>
              <a:t/>
            </a:r>
            <a:endParaRPr i="0" sz="1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" name="Google Shape;128;p30"/>
          <p:cNvCxnSpPr/>
          <p:nvPr/>
        </p:nvCxnSpPr>
        <p:spPr>
          <a:xfrm flipH="1" rot="10800000">
            <a:off x="1299859" y="6330034"/>
            <a:ext cx="19536300" cy="7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29" name="Google Shape;129;p30"/>
          <p:cNvSpPr/>
          <p:nvPr/>
        </p:nvSpPr>
        <p:spPr>
          <a:xfrm>
            <a:off x="-450" y="-85496"/>
            <a:ext cx="32918400" cy="343500"/>
          </a:xfrm>
          <a:prstGeom prst="rect">
            <a:avLst/>
          </a:prstGeom>
          <a:solidFill>
            <a:srgbClr val="435C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0"/>
          <p:cNvSpPr/>
          <p:nvPr/>
        </p:nvSpPr>
        <p:spPr>
          <a:xfrm>
            <a:off x="-500" y="47290994"/>
            <a:ext cx="32918400" cy="343500"/>
          </a:xfrm>
          <a:prstGeom prst="rect">
            <a:avLst/>
          </a:prstGeom>
          <a:solidFill>
            <a:srgbClr val="435C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-500" y="8429744"/>
            <a:ext cx="32728500" cy="343500"/>
          </a:xfrm>
          <a:prstGeom prst="rect">
            <a:avLst/>
          </a:prstGeom>
          <a:solidFill>
            <a:srgbClr val="435C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0"/>
          <p:cNvSpPr txBox="1"/>
          <p:nvPr/>
        </p:nvSpPr>
        <p:spPr>
          <a:xfrm>
            <a:off x="515138" y="13253117"/>
            <a:ext cx="14950500" cy="26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Goal</a:t>
            </a:r>
            <a:endParaRPr i="0" sz="6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empower stakeholders with actionable insights on consumer behavior and customer segmentation.</a:t>
            </a:r>
            <a:endParaRPr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2212848" y="6815328"/>
            <a:ext cx="178308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ct val="100000"/>
              <a:buFont typeface="Arial"/>
              <a:buNone/>
            </a:pPr>
            <a:r>
              <a:rPr b="1"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Erik Nielsen &amp; Orvil Escalante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ct val="1000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30"/>
          <p:cNvSpPr/>
          <p:nvPr/>
        </p:nvSpPr>
        <p:spPr>
          <a:xfrm rot="-5400000">
            <a:off x="17879300" y="3999355"/>
            <a:ext cx="8371200" cy="421500"/>
          </a:xfrm>
          <a:prstGeom prst="rect">
            <a:avLst/>
          </a:prstGeom>
          <a:solidFill>
            <a:srgbClr val="435C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22731975" y="752851"/>
            <a:ext cx="9345300" cy="59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lang="en-US" sz="7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Overview Description</a:t>
            </a:r>
            <a:endParaRPr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project leverages unsupervised learning to identify product and customer transaction clusters within the Instacart dataset. The dataset includes over 3 million orders and 49,688 products, spanning 134 aisles and 21 departments.</a:t>
            </a:r>
            <a:endParaRPr sz="3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30"/>
          <p:cNvSpPr/>
          <p:nvPr/>
        </p:nvSpPr>
        <p:spPr>
          <a:xfrm rot="-5400000">
            <a:off x="-2965275" y="27699765"/>
            <a:ext cx="38898000" cy="421500"/>
          </a:xfrm>
          <a:prstGeom prst="rect">
            <a:avLst/>
          </a:prstGeom>
          <a:solidFill>
            <a:srgbClr val="435C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0"/>
          <p:cNvSpPr/>
          <p:nvPr/>
        </p:nvSpPr>
        <p:spPr>
          <a:xfrm rot="-5400000">
            <a:off x="-23663100" y="23552022"/>
            <a:ext cx="47645100" cy="421500"/>
          </a:xfrm>
          <a:prstGeom prst="rect">
            <a:avLst/>
          </a:prstGeom>
          <a:solidFill>
            <a:srgbClr val="435C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0"/>
          <p:cNvSpPr/>
          <p:nvPr/>
        </p:nvSpPr>
        <p:spPr>
          <a:xfrm rot="-5400000">
            <a:off x="8919550" y="23552022"/>
            <a:ext cx="47645100" cy="421500"/>
          </a:xfrm>
          <a:prstGeom prst="rect">
            <a:avLst/>
          </a:prstGeom>
          <a:solidFill>
            <a:srgbClr val="435C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17117800" y="18653173"/>
            <a:ext cx="14922900" cy="53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Clustering</a:t>
            </a:r>
            <a:endParaRPr i="0" sz="6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KMeans Results</a:t>
            </a: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Two clusters identified; smaller orders focused on common items like bananas, larger orders had a wider variety.                                          </a:t>
            </a:r>
            <a:endParaRPr sz="4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DBSCAN Results</a:t>
            </a: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Significant noise cluster formed, suggesting room for parameter tuning.</a:t>
            </a:r>
            <a:endParaRPr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30"/>
          <p:cNvSpPr txBox="1"/>
          <p:nvPr/>
        </p:nvSpPr>
        <p:spPr>
          <a:xfrm>
            <a:off x="515138" y="9268383"/>
            <a:ext cx="14950500" cy="4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Research Questions</a:t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1) What associations between products can be identified through clustering?                                                </a:t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2) What insights can clustering customer transactions provide about purchasing patterns and habits?</a:t>
            </a:r>
            <a:endParaRPr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38" y="17947446"/>
            <a:ext cx="14796751" cy="708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0"/>
          <p:cNvSpPr txBox="1"/>
          <p:nvPr/>
        </p:nvSpPr>
        <p:spPr>
          <a:xfrm>
            <a:off x="515138" y="15864745"/>
            <a:ext cx="14950500" cy="26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i="0" sz="6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transactions for first 100 customers</a:t>
            </a:r>
            <a:endParaRPr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30"/>
          <p:cNvSpPr txBox="1"/>
          <p:nvPr/>
        </p:nvSpPr>
        <p:spPr>
          <a:xfrm>
            <a:off x="515138" y="25382106"/>
            <a:ext cx="156129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Algorithms &amp; Methodology Algorithms Used</a:t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Word2Vec</a:t>
            </a:r>
            <a:r>
              <a:rPr lang="en-US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Generates product embeddings for clustering.                                                                         </a:t>
            </a:r>
            <a:r>
              <a:rPr lang="en-US" sz="4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KMeans</a:t>
            </a:r>
            <a:r>
              <a:rPr lang="en-US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Defines product clusters with n=30.  </a:t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DBSCAN</a:t>
            </a:r>
            <a:r>
              <a:rPr lang="en-US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Handles non-convex clusters &amp; filters noise.</a:t>
            </a:r>
            <a:endParaRPr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30"/>
          <p:cNvSpPr txBox="1"/>
          <p:nvPr/>
        </p:nvSpPr>
        <p:spPr>
          <a:xfrm>
            <a:off x="515138" y="28751356"/>
            <a:ext cx="15612900" cy="3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Preprocessing Steps</a:t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Merging datasets (orders, products, aisles, departments). Tokenization of product information for embedding. Dimensionality reduction using PCA to ensure compatibility with clustering algorithms.</a:t>
            </a:r>
            <a:endParaRPr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30"/>
          <p:cNvSpPr txBox="1"/>
          <p:nvPr/>
        </p:nvSpPr>
        <p:spPr>
          <a:xfrm>
            <a:off x="515138" y="36612283"/>
            <a:ext cx="15612900" cy="3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Inputs &amp; Outputs</a:t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</a:t>
            </a:r>
            <a:r>
              <a:rPr lang="en-US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t: Product embeddings, customer transactions. </a:t>
            </a:r>
            <a:endParaRPr sz="4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r>
              <a:rPr lang="en-US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Clusters of products and customer orders</a:t>
            </a:r>
            <a:endParaRPr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138" y="32273006"/>
            <a:ext cx="14950500" cy="240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139" y="35064432"/>
            <a:ext cx="14922900" cy="1439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17800" y="9101271"/>
            <a:ext cx="14622751" cy="9093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0"/>
          <p:cNvPicPr preferRelativeResize="0"/>
          <p:nvPr/>
        </p:nvPicPr>
        <p:blipFill rotWithShape="1">
          <a:blip r:embed="rId7">
            <a:alphaModFix/>
          </a:blip>
          <a:srcRect b="11126" l="23829" r="5103" t="42363"/>
          <a:stretch/>
        </p:blipFill>
        <p:spPr>
          <a:xfrm>
            <a:off x="17117800" y="23828656"/>
            <a:ext cx="14622748" cy="670059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0"/>
          <p:cNvSpPr txBox="1"/>
          <p:nvPr/>
        </p:nvSpPr>
        <p:spPr>
          <a:xfrm>
            <a:off x="17117800" y="30817002"/>
            <a:ext cx="14922900" cy="6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 &amp; Bias</a:t>
            </a:r>
            <a:endParaRPr i="0" sz="6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Positive:</a:t>
            </a: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Enhanced personalization for customers, insights for better inventory management. </a:t>
            </a:r>
            <a:r>
              <a:rPr lang="en-US" sz="4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endParaRPr sz="45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Negative</a:t>
            </a: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Risk of demographic and selection biases impacting representativeness. </a:t>
            </a:r>
            <a:r>
              <a:rPr lang="en-US" sz="4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</a:t>
            </a:r>
            <a:endParaRPr sz="45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Bias Mitigation</a:t>
            </a: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Random sampling (5% of customers) to reduce misrepresentation risks. Further exploration needed to address product and geographic biases.</a:t>
            </a:r>
            <a:endParaRPr i="0" sz="4500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30"/>
          <p:cNvSpPr txBox="1"/>
          <p:nvPr/>
        </p:nvSpPr>
        <p:spPr>
          <a:xfrm>
            <a:off x="631538" y="39726896"/>
            <a:ext cx="14922900" cy="59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 Clustering</a:t>
            </a:r>
            <a:endParaRPr i="0" sz="6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DBSCAN</a:t>
            </a: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Produced a large cluster of noise with almost half of the points, n = 26,544 being labeled as such. This most likely means DBSCAN could not find similarities between such points to create a cluster. </a:t>
            </a:r>
            <a:endParaRPr sz="4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5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KMeans</a:t>
            </a: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Mapped 30 clusters, however there are some clusters that are better defined than others.</a:t>
            </a:r>
            <a:endParaRPr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30"/>
          <p:cNvSpPr txBox="1"/>
          <p:nvPr/>
        </p:nvSpPr>
        <p:spPr>
          <a:xfrm>
            <a:off x="17117800" y="37288901"/>
            <a:ext cx="14922900" cy="4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 Steps</a:t>
            </a:r>
            <a:endParaRPr i="0" sz="6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Char char="-"/>
            </a:pP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Experiment with alternative clustering methods (e.g., Hierarchical Clustering).                                           </a:t>
            </a:r>
            <a:endParaRPr sz="4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Char char="-"/>
            </a:pP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Address challenges in embedding representation for higher fidelity.                                                               </a:t>
            </a:r>
            <a:endParaRPr sz="4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Char char="-"/>
            </a:pP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Expand dataset sampling to improve robustness</a:t>
            </a:r>
            <a:endParaRPr i="0" sz="4500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17117800" y="42061351"/>
            <a:ext cx="14922900" cy="4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475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Sources</a:t>
            </a:r>
            <a:endParaRPr i="0" sz="6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Char char="-"/>
            </a:pP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Kaggle: Instacart Market Basket Analysis.            </a:t>
            </a:r>
            <a:endParaRPr sz="4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Char char="-"/>
            </a:pP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Developers: ML Crash Course on Embeddings.</a:t>
            </a:r>
            <a:endParaRPr sz="4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Char char="-"/>
            </a:pP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TensorFlow: Word2Vec Tutorial.                                  </a:t>
            </a:r>
            <a:endParaRPr sz="4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Char char="-"/>
            </a:pPr>
            <a:r>
              <a:rPr lang="en-US" sz="4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Nielsen &amp; Escalante (2024): AI4ALL. </a:t>
            </a:r>
            <a:r>
              <a:rPr lang="en-US" sz="4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Collab</a:t>
            </a:r>
            <a:endParaRPr i="0" sz="4500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