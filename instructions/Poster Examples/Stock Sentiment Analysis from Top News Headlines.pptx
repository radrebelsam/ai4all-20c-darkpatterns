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</p:sldIdLst>
  <p:sldSz cy="32918400" cx="585216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9AA0A6"/>
          </p15:clr>
        </p15:guide>
        <p15:guide id="2" pos="1843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84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Relationship Id="rId10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19667" y="685800"/>
            <a:ext cx="5418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389120" y="5387342"/>
            <a:ext cx="497433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4000"/>
              <a:buFont typeface="Arial"/>
              <a:buNone/>
              <a:defRPr sz="140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7315200" y="17289781"/>
            <a:ext cx="43891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992883" y="8206748"/>
            <a:ext cx="50475000" cy="13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992883" y="22029428"/>
            <a:ext cx="504750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023359" y="8763000"/>
            <a:ext cx="248718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030981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030989" y="8069581"/>
            <a:ext cx="247575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29626563" y="8069581"/>
            <a:ext cx="248793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24879300" y="4739647"/>
            <a:ext cx="2962650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20015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1pPr>
            <a:lvl2pPr indent="-120015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2pPr>
            <a:lvl3pPr indent="-120015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3pPr>
            <a:lvl4pPr indent="-120015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4pPr>
            <a:lvl5pPr indent="-120015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24879300" y="4739647"/>
            <a:ext cx="2962650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4389120" y="5387342"/>
            <a:ext cx="497433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4000"/>
              <a:buFont typeface="Arial"/>
              <a:buNone/>
              <a:defRPr sz="140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7315200" y="17289781"/>
            <a:ext cx="43891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992883" y="8206748"/>
            <a:ext cx="50475000" cy="13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992883" y="22029428"/>
            <a:ext cx="504750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023359" y="8763000"/>
            <a:ext cx="248718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 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030983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030989" y="8069581"/>
            <a:ext cx="247575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29626563" y="8069581"/>
            <a:ext cx="248793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24879304" y="4739647"/>
            <a:ext cx="2962650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20015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1pPr>
            <a:lvl2pPr indent="-120015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2pPr>
            <a:lvl3pPr indent="-120015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3pPr>
            <a:lvl4pPr indent="-120015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4pPr>
            <a:lvl5pPr indent="-120015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 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24879304" y="4739647"/>
            <a:ext cx="2962650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 2">
    <p:bg>
      <p:bgPr>
        <a:solidFill>
          <a:srgbClr val="00306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389120" y="10226041"/>
            <a:ext cx="49743300" cy="7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8778240" y="18653759"/>
            <a:ext cx="40965000" cy="8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bg>
      <p:bgPr>
        <a:solidFill>
          <a:srgbClr val="00306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" type="body"/>
          </p:nvPr>
        </p:nvSpPr>
        <p:spPr>
          <a:xfrm>
            <a:off x="2926079" y="7680962"/>
            <a:ext cx="52669500" cy="21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1206500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1pPr>
            <a:lvl2pPr indent="-1206500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2pPr>
            <a:lvl3pPr indent="-1206500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3pPr>
            <a:lvl4pPr indent="-1206500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4pPr>
            <a:lvl5pPr indent="-1206500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»"/>
              <a:defRPr sz="154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3">
    <p:bg>
      <p:bgPr>
        <a:solidFill>
          <a:srgbClr val="00306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4622802" y="21153120"/>
            <a:ext cx="49743300" cy="6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0"/>
              <a:buFont typeface="Calibri"/>
              <a:buNone/>
              <a:defRPr b="1" sz="192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4622802" y="13952223"/>
            <a:ext cx="497433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3">
    <p:bg>
      <p:bgPr>
        <a:solidFill>
          <a:srgbClr val="00306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2926079" y="7680962"/>
            <a:ext cx="25847100" cy="21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 3">
    <p:bg>
      <p:bgPr>
        <a:solidFill>
          <a:srgbClr val="00306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2926079" y="7368541"/>
            <a:ext cx="258573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29728163" y="7368541"/>
            <a:ext cx="258675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3">
    <p:bg>
      <p:bgPr>
        <a:solidFill>
          <a:srgbClr val="00306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3">
    <p:bg>
      <p:bgPr>
        <a:solidFill>
          <a:srgbClr val="00306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 3">
    <p:bg>
      <p:bgPr>
        <a:solidFill>
          <a:srgbClr val="00306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2926084" y="1310639"/>
            <a:ext cx="19253100" cy="55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  <a:defRPr b="1" sz="9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22880319" y="1310642"/>
            <a:ext cx="32715300" cy="28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1206500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1pPr>
            <a:lvl2pPr indent="-1206500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2pPr>
            <a:lvl3pPr indent="-1206500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3pPr>
            <a:lvl4pPr indent="-1206500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4pPr>
            <a:lvl5pPr indent="-1206500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»"/>
              <a:defRPr sz="154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2" type="body"/>
          </p:nvPr>
        </p:nvSpPr>
        <p:spPr>
          <a:xfrm>
            <a:off x="2926084" y="6888481"/>
            <a:ext cx="19253100" cy="225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 3">
    <p:bg>
      <p:bgPr>
        <a:solidFill>
          <a:srgbClr val="00306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/>
          <p:nvPr>
            <p:ph type="title"/>
          </p:nvPr>
        </p:nvSpPr>
        <p:spPr>
          <a:xfrm>
            <a:off x="11470642" y="23042880"/>
            <a:ext cx="351129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  <a:defRPr b="1" sz="9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4" name="Google Shape;114;p28"/>
          <p:cNvSpPr/>
          <p:nvPr>
            <p:ph idx="2" type="pic"/>
          </p:nvPr>
        </p:nvSpPr>
        <p:spPr>
          <a:xfrm>
            <a:off x="11470642" y="2941320"/>
            <a:ext cx="35112900" cy="1975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11470642" y="25763220"/>
            <a:ext cx="351129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1pPr>
            <a:lvl2pPr indent="-2286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2pPr>
            <a:lvl3pPr indent="-2286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3pPr>
            <a:lvl4pPr indent="-2286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4pPr>
            <a:lvl5pPr indent="-2286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4023360" y="1752607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" type="body"/>
          </p:nvPr>
        </p:nvSpPr>
        <p:spPr>
          <a:xfrm>
            <a:off x="4023360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9"/>
          <p:cNvSpPr txBox="1"/>
          <p:nvPr>
            <p:ph idx="10" type="dt"/>
          </p:nvPr>
        </p:nvSpPr>
        <p:spPr>
          <a:xfrm>
            <a:off x="4023360" y="30510488"/>
            <a:ext cx="13167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9"/>
          <p:cNvSpPr txBox="1"/>
          <p:nvPr>
            <p:ph idx="11" type="ftr"/>
          </p:nvPr>
        </p:nvSpPr>
        <p:spPr>
          <a:xfrm>
            <a:off x="19385280" y="30510488"/>
            <a:ext cx="197511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41330881" y="30510488"/>
            <a:ext cx="13167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079500" lvl="0" marL="457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79500" lvl="2" marL="13716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79500" lvl="3" marL="18288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79500" lvl="4" marL="22860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79500" lvl="5" marL="2743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79500" lvl="6" marL="32004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79500" lvl="7" marL="36576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79500" lvl="8" marL="41148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kaggle.com/datasets/siddharthtyagi/news-headlines-dataset-for-stock-sentiment-analyze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doi.org/10.1111/j.1540-6261.2007.01232.x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hyperlink" Target="https://finviz.com/news.ashx" TargetMode="External"/><Relationship Id="rId11" Type="http://schemas.openxmlformats.org/officeDocument/2006/relationships/hyperlink" Target="https://www.kaggle.com/datasets/siddharthtyagi/news-headlines-dataset-for-stock-sentiment-analyze" TargetMode="External"/><Relationship Id="rId10" Type="http://schemas.openxmlformats.org/officeDocument/2006/relationships/hyperlink" Target="https://www.kag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/>
          <p:nvPr/>
        </p:nvSpPr>
        <p:spPr>
          <a:xfrm>
            <a:off x="-193863" y="-59196"/>
            <a:ext cx="589092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0"/>
          <p:cNvSpPr/>
          <p:nvPr/>
        </p:nvSpPr>
        <p:spPr>
          <a:xfrm>
            <a:off x="-193863" y="32347063"/>
            <a:ext cx="589092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0"/>
          <p:cNvSpPr/>
          <p:nvPr/>
        </p:nvSpPr>
        <p:spPr>
          <a:xfrm rot="-5400000">
            <a:off x="-16344263" y="16040678"/>
            <a:ext cx="33255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0"/>
          <p:cNvSpPr/>
          <p:nvPr/>
        </p:nvSpPr>
        <p:spPr>
          <a:xfrm rot="-5400000">
            <a:off x="39569746" y="3617002"/>
            <a:ext cx="79830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0" y="7808976"/>
            <a:ext cx="581838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0"/>
          <p:cNvSpPr txBox="1"/>
          <p:nvPr>
            <p:ph type="title"/>
          </p:nvPr>
        </p:nvSpPr>
        <p:spPr>
          <a:xfrm>
            <a:off x="1643275" y="1622575"/>
            <a:ext cx="40699800" cy="4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2040"/>
              <a:buFont typeface="Arial"/>
              <a:buNone/>
            </a:pPr>
            <a:r>
              <a:rPr b="1" lang="en-US" sz="12000">
                <a:latin typeface="Roboto"/>
                <a:ea typeface="Roboto"/>
                <a:cs typeface="Roboto"/>
                <a:sym typeface="Roboto"/>
              </a:rPr>
              <a:t>Stock Sentiment Analysis from Top News Headlines</a:t>
            </a:r>
            <a:endParaRPr b="1" sz="12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" name="Google Shape;133;p30"/>
          <p:cNvCxnSpPr/>
          <p:nvPr/>
        </p:nvCxnSpPr>
        <p:spPr>
          <a:xfrm flipH="1" rot="10800000">
            <a:off x="2310860" y="5844983"/>
            <a:ext cx="34731000" cy="76500"/>
          </a:xfrm>
          <a:prstGeom prst="straightConnector1">
            <a:avLst/>
          </a:prstGeom>
          <a:noFill/>
          <a:ln cap="flat" cmpd="sng" w="25400">
            <a:solidFill>
              <a:srgbClr val="2C365E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34" name="Google Shape;134;p30"/>
          <p:cNvSpPr/>
          <p:nvPr/>
        </p:nvSpPr>
        <p:spPr>
          <a:xfrm rot="-5400000">
            <a:off x="7135309" y="20015145"/>
            <a:ext cx="24813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1188720" y="18498312"/>
            <a:ext cx="17483400" cy="4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Roboto Medium"/>
              <a:buChar char="●"/>
            </a:pPr>
            <a:r>
              <a:rPr b="0" i="0" lang="en-US" sz="4400" u="none" cap="none" strike="noStrike">
                <a:solidFill>
                  <a:srgbClr val="0000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News Headlines Dataset For Stock Sentiment Analyze</a:t>
            </a:r>
            <a:r>
              <a:rPr b="0" i="0" lang="en-US" sz="4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Kaggle.com</a:t>
            </a:r>
            <a:endParaRPr b="0" i="0" sz="4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Sources:</a:t>
            </a:r>
            <a:endParaRPr b="0" i="0" sz="4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Roboto"/>
              <a:buChar char="-"/>
            </a:pPr>
            <a:r>
              <a:rPr b="0" i="0" lang="en-US" sz="4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Yahoo Finance</a:t>
            </a:r>
            <a:endParaRPr b="0" i="0" sz="4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Roboto"/>
              <a:buChar char="-"/>
            </a:pPr>
            <a:r>
              <a:rPr b="0" i="0" lang="en-US" sz="4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Siddharth Tyagi</a:t>
            </a:r>
            <a:endParaRPr b="0" i="0" sz="4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1188720" y="25612344"/>
            <a:ext cx="156813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b="0" i="0" sz="36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b="0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Count Vectorization to convert headlines text to vectors</a:t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None/>
            </a:pPr>
            <a:r>
              <a:t/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b="0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Random Forest Classifier to predict 1/0 based on News Headlines</a:t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30"/>
          <p:cNvSpPr txBox="1"/>
          <p:nvPr/>
        </p:nvSpPr>
        <p:spPr>
          <a:xfrm>
            <a:off x="1188729" y="8897100"/>
            <a:ext cx="160650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775"/>
              <a:buFont typeface="Arial"/>
              <a:buNone/>
            </a:pPr>
            <a:r>
              <a:rPr b="0" i="0" lang="en-US" sz="5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Research question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775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Char char="●"/>
            </a:pPr>
            <a:r>
              <a:rPr b="0" i="0" lang="en-US" sz="5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Tons and tons of stock news are released every hour.</a:t>
            </a:r>
            <a:endParaRPr/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Char char="●"/>
            </a:pPr>
            <a:r>
              <a:rPr b="0" i="0" lang="en-US" sz="5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can be very overwhelming for traders and investors seeking to secure the best deals.</a:t>
            </a:r>
            <a:endParaRPr/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Char char="●"/>
            </a:pPr>
            <a:r>
              <a:rPr b="0" i="0" lang="en-US" sz="5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With this being a pressing burden, there is the need for automation to help make efficient and smart decisions.</a:t>
            </a:r>
            <a:endParaRPr/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Char char="●"/>
            </a:pPr>
            <a:r>
              <a:rPr b="1" i="0" lang="en-US" sz="5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we predict the state of the market based on news headlines related to stocks?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C365E"/>
              </a:buClr>
              <a:buSzPts val="5775"/>
              <a:buFont typeface="Arial"/>
              <a:buNone/>
            </a:pPr>
            <a:r>
              <a:t/>
            </a:r>
            <a:endParaRPr b="0" i="0" sz="5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30"/>
          <p:cNvSpPr txBox="1"/>
          <p:nvPr/>
        </p:nvSpPr>
        <p:spPr>
          <a:xfrm>
            <a:off x="44394120" y="1024128"/>
            <a:ext cx="129846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  <a:endParaRPr b="0" i="0" sz="7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b="0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Develop machine learning model using natural language processing to analyze stock headlines and classify them as having either positive or negative sentiment.</a:t>
            </a:r>
            <a:endParaRPr b="0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●"/>
            </a:pPr>
            <a:r>
              <a:rPr b="0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Machine learning model for stock  sentiment analysis.</a:t>
            </a:r>
            <a:endParaRPr b="0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20317976" y="8897100"/>
            <a:ext cx="3706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User-friendly usage</a:t>
            </a:r>
            <a:endParaRPr b="1" i="0" sz="6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06449" y="10372561"/>
            <a:ext cx="8182726" cy="612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90634" y="10338141"/>
            <a:ext cx="9098571" cy="6257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367796" y="10338141"/>
            <a:ext cx="9637799" cy="630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60379" y="10338141"/>
            <a:ext cx="9006576" cy="636147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0"/>
          <p:cNvSpPr txBox="1"/>
          <p:nvPr/>
        </p:nvSpPr>
        <p:spPr>
          <a:xfrm>
            <a:off x="39895272" y="25612344"/>
            <a:ext cx="174834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Future:</a:t>
            </a:r>
            <a:endParaRPr b="1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●"/>
            </a:pPr>
            <a:r>
              <a:rPr b="0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Gather more data to increase accuracy of ML model over time</a:t>
            </a:r>
            <a:endParaRPr b="0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●"/>
            </a:pPr>
            <a:r>
              <a:rPr b="0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 the model response through vector embeddings instead of count vectorization</a:t>
            </a:r>
            <a:endParaRPr/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●"/>
            </a:pPr>
            <a:r>
              <a:rPr b="0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Validate Model responses through manual/automated stock monitoring</a:t>
            </a:r>
            <a:endParaRPr b="0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●"/>
            </a:pPr>
            <a:r>
              <a:rPr b="0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Website for user registration and insights.</a:t>
            </a:r>
            <a:endParaRPr b="0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Char char="●"/>
            </a:pPr>
            <a:r>
              <a:rPr b="0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Emailing system for daily stock news updates.</a:t>
            </a:r>
            <a:endParaRPr b="1" i="0" sz="60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30"/>
          <p:cNvSpPr txBox="1"/>
          <p:nvPr/>
        </p:nvSpPr>
        <p:spPr>
          <a:xfrm>
            <a:off x="20317968" y="25612344"/>
            <a:ext cx="178035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Sources of BIAS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0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b="0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Date range of 2000 to 2016 might not reflect current market behavior</a:t>
            </a:r>
            <a:endParaRPr/>
          </a:p>
          <a:p>
            <a:pPr indent="0" lvl="1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b="0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Using top 25 news headlines might not be enough to decide for a whole day with 100+ news posted.</a:t>
            </a:r>
            <a:endParaRPr b="1" i="0" sz="60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30"/>
          <p:cNvSpPr txBox="1"/>
          <p:nvPr/>
        </p:nvSpPr>
        <p:spPr>
          <a:xfrm>
            <a:off x="20428812" y="17112837"/>
            <a:ext cx="3706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1" i="0" sz="6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30"/>
          <p:cNvSpPr txBox="1"/>
          <p:nvPr/>
        </p:nvSpPr>
        <p:spPr>
          <a:xfrm>
            <a:off x="20411798" y="18413362"/>
            <a:ext cx="370605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b="1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Finviz. (n.d.). </a:t>
            </a:r>
            <a:r>
              <a:rPr b="0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Market news. Finviz. Retrieved [October 18, 2024], from </a:t>
            </a:r>
            <a:r>
              <a:rPr b="0" i="0" lang="en-US" sz="4500" u="sng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https://finviz.com/news.ashx</a:t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b="0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Tetlock, P. C. (2007). Giving content to investor sentiment: The role of media in the stock market. Journal of Finance, 62(3), 1139–1168. </a:t>
            </a:r>
            <a:r>
              <a:rPr b="0" i="0" lang="en-US" sz="4500" u="sng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https://doi.org/10.1111/j.1540-6261.2007.01232.x</a:t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b="0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Data Source: Tyagi, S. (2018). News headlines dataset for stock sentiment analysis. Kaggle. </a:t>
            </a:r>
            <a:r>
              <a:rPr b="0" i="0" lang="en-US" sz="4500" u="sng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</a:t>
            </a:r>
            <a:r>
              <a:rPr b="0" i="0" lang="en-US" sz="4500" u="sng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/datasets/siddharthtyagi/news-headlines-dataset-for-stock-sentiment-analyze</a:t>
            </a:r>
            <a:endParaRPr b="0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30"/>
          <p:cNvSpPr txBox="1"/>
          <p:nvPr/>
        </p:nvSpPr>
        <p:spPr>
          <a:xfrm>
            <a:off x="2560320" y="6293350"/>
            <a:ext cx="388710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Daniel Enesi, Eniola Farinde, Sunday Ochigbo</a:t>
            </a:r>
            <a:endParaRPr b="1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