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4070"/>
                </a:solidFill>
                <a:latin typeface="Arial"/>
              </a:rPr>
              <a:t>Dark Pattern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495757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F6978"/>
                </a:solidFill>
                <a:latin typeface="Arial"/>
              </a:rPr>
              <a:t>AI4ALL Ignite </a:t>
            </a:r>
            <a:r>
              <a:rPr lang="en-US" sz="1300">
                <a:solidFill>
                  <a:srgbClr val="5F6978"/>
                </a:solidFill>
                <a:latin typeface="Arial"/>
              </a:rPr>
              <a:t>T</a:t>
            </a:r>
            <a:r>
              <a:rPr lang="en-US" altLang="zh-CN" sz="1300">
                <a:solidFill>
                  <a:srgbClr val="5F6978"/>
                </a:solidFill>
                <a:latin typeface="Arial"/>
              </a:rPr>
              <a:t>eam </a:t>
            </a:r>
            <a:r>
              <a:rPr sz="1300">
                <a:solidFill>
                  <a:srgbClr val="5F6978"/>
                </a:solidFill>
                <a:latin typeface="Arial"/>
              </a:rPr>
              <a:t>20C </a:t>
            </a:r>
            <a:r>
              <a:rPr sz="1300" dirty="0">
                <a:solidFill>
                  <a:srgbClr val="5F6978"/>
                </a:solidFill>
                <a:latin typeface="Arial"/>
              </a:rPr>
              <a:t>| Supervised NLP for E-Commerce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143" y="1270250"/>
            <a:ext cx="2860241" cy="896960"/>
          </a:xfrm>
          <a:prstGeom prst="rect">
            <a:avLst/>
          </a:prstGeom>
          <a:solidFill>
            <a:srgbClr val="F2F6FB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1300" b="1" dirty="0">
                <a:solidFill>
                  <a:srgbClr val="224070"/>
                </a:solidFill>
                <a:latin typeface="Arial"/>
              </a:rPr>
              <a:t>Research Question</a:t>
            </a:r>
          </a:p>
          <a:p>
            <a:pPr>
              <a:spcBef>
                <a:spcPts val="600"/>
              </a:spcBef>
            </a:pPr>
            <a:r>
              <a:rPr sz="1100" dirty="0">
                <a:solidFill>
                  <a:srgbClr val="232323"/>
                </a:solidFill>
                <a:latin typeface="Arial"/>
              </a:rPr>
              <a:t>Can supervised text classifiers detect dark-pattern language, and what are the limits of text-first detection?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9403" y="1270250"/>
            <a:ext cx="2860241" cy="896960"/>
          </a:xfrm>
          <a:prstGeom prst="rect">
            <a:avLst/>
          </a:prstGeom>
          <a:solidFill>
            <a:srgbClr val="F2F6FB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1300" b="1" dirty="0">
                <a:solidFill>
                  <a:srgbClr val="224070"/>
                </a:solidFill>
                <a:latin typeface="Arial"/>
              </a:rPr>
              <a:t>Data</a:t>
            </a:r>
          </a:p>
          <a:p>
            <a:pPr>
              <a:spcBef>
                <a:spcPts val="600"/>
              </a:spcBef>
            </a:pPr>
            <a:r>
              <a:rPr sz="1100" dirty="0">
                <a:solidFill>
                  <a:srgbClr val="232323"/>
                </a:solidFill>
                <a:latin typeface="Arial"/>
              </a:rPr>
              <a:t>Primary baseline: 2,356 Krish Uppal snippets, balanced 50/50. Secondary sources: </a:t>
            </a:r>
            <a:r>
              <a:rPr sz="1100" dirty="0" err="1">
                <a:solidFill>
                  <a:srgbClr val="232323"/>
                </a:solidFill>
                <a:latin typeface="Arial"/>
              </a:rPr>
              <a:t>Devitachi</a:t>
            </a:r>
            <a:r>
              <a:rPr sz="1100" dirty="0">
                <a:solidFill>
                  <a:srgbClr val="232323"/>
                </a:solidFill>
                <a:latin typeface="Arial"/>
              </a:rPr>
              <a:t> + Akash Nath.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9252" y="1270250"/>
            <a:ext cx="2860241" cy="896960"/>
          </a:xfrm>
          <a:prstGeom prst="rect">
            <a:avLst/>
          </a:prstGeom>
          <a:solidFill>
            <a:srgbClr val="F2F6FB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1300" b="1" dirty="0">
                <a:solidFill>
                  <a:srgbClr val="224070"/>
                </a:solidFill>
                <a:latin typeface="Arial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100" dirty="0">
                <a:solidFill>
                  <a:srgbClr val="232323"/>
                </a:solidFill>
                <a:latin typeface="Arial"/>
              </a:rPr>
              <a:t>TF-IDF + Logistic Regression. Compared against Linear SVM, Naive Bayes, Decision Tree, and Random Forest.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083035" y="1270250"/>
            <a:ext cx="2855850" cy="896960"/>
          </a:xfrm>
          <a:prstGeom prst="rect">
            <a:avLst/>
          </a:prstGeom>
          <a:solidFill>
            <a:srgbClr val="F2F6FB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1300" b="1" dirty="0">
                <a:solidFill>
                  <a:srgbClr val="224070"/>
                </a:solidFill>
                <a:latin typeface="Arial"/>
              </a:rPr>
              <a:t>Result</a:t>
            </a:r>
          </a:p>
          <a:p>
            <a:pPr>
              <a:spcBef>
                <a:spcPts val="600"/>
              </a:spcBef>
            </a:pPr>
            <a:r>
              <a:rPr sz="1100" dirty="0">
                <a:solidFill>
                  <a:srgbClr val="232323"/>
                </a:solidFill>
                <a:latin typeface="Arial"/>
              </a:rPr>
              <a:t>Best primary model: 93.9% accuracy, 0.936 F1.</a:t>
            </a:r>
          </a:p>
        </p:txBody>
      </p:sp>
      <p:pic>
        <p:nvPicPr>
          <p:cNvPr id="8" name="Picture 7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57574"/>
            <a:ext cx="3796632" cy="2317425"/>
          </a:xfrm>
          <a:prstGeom prst="rect">
            <a:avLst/>
          </a:prstGeom>
        </p:spPr>
      </p:pic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962" y="2557574"/>
            <a:ext cx="3352870" cy="2317425"/>
          </a:xfrm>
          <a:prstGeom prst="rect">
            <a:avLst/>
          </a:prstGeom>
        </p:spPr>
      </p:pic>
      <p:pic>
        <p:nvPicPr>
          <p:cNvPr id="10" name="Picture 9" descr="category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557574"/>
            <a:ext cx="3796632" cy="23174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0143" y="5294800"/>
            <a:ext cx="3753217" cy="896960"/>
          </a:xfrm>
          <a:prstGeom prst="rect">
            <a:avLst/>
          </a:prstGeom>
          <a:solidFill>
            <a:srgbClr val="F2F6FB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1200" b="1">
                <a:solidFill>
                  <a:srgbClr val="224070"/>
                </a:solidFill>
                <a:latin typeface="Arial"/>
              </a:rPr>
              <a:t>Demo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Streamlit app for manual text. Playwright scanner for visible webpage text. Demo safeguards reduce discount/product-title false positives.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4151" y="5280081"/>
            <a:ext cx="3753217" cy="896960"/>
          </a:xfrm>
          <a:prstGeom prst="rect">
            <a:avLst/>
          </a:prstGeom>
          <a:solidFill>
            <a:srgbClr val="F2F6FB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1200" b="1">
                <a:solidFill>
                  <a:srgbClr val="224070"/>
                </a:solidFill>
                <a:latin typeface="Arial"/>
              </a:rPr>
              <a:t>Responsible AI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False positives can unfairly flag businesses; false negatives can miss harm. The model is a review aid, not a final accusation.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5280081"/>
            <a:ext cx="3800726" cy="896960"/>
          </a:xfrm>
          <a:prstGeom prst="rect">
            <a:avLst/>
          </a:prstGeom>
          <a:solidFill>
            <a:srgbClr val="F2F6FB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1200" b="1">
                <a:solidFill>
                  <a:srgbClr val="224070"/>
                </a:solidFill>
                <a:latin typeface="Arial"/>
              </a:rPr>
              <a:t>Future Work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32323"/>
                </a:solidFill>
                <a:latin typeface="Arial"/>
              </a:rPr>
              <a:t>Hard-negative mining, TF-IDF tuning, threshold tuning, OCR, visual layout features, and UX-flow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0080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dirty="0">
                <a:solidFill>
                  <a:srgbClr val="5F6978"/>
                </a:solidFill>
                <a:latin typeface="Arial"/>
              </a:rPr>
              <a:t>GitHub: https://github.com/RadRebelSam/ai4all-20c-darkpatterns | Page: https://radrebelsam.github.io/ai4all-20c-darkpatterns/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180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Dexin Yang</cp:lastModifiedBy>
  <cp:revision>4</cp:revision>
  <dcterms:created xsi:type="dcterms:W3CDTF">2013-01-27T09:14:16Z</dcterms:created>
  <dcterms:modified xsi:type="dcterms:W3CDTF">2026-07-03T16:37:02Z</dcterms:modified>
  <cp:category/>
</cp:coreProperties>
</file>